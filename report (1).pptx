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73" r:id="rId4"/>
    <p:sldId id="261" r:id="rId5"/>
    <p:sldId id="300" r:id="rId6"/>
    <p:sldId id="344" r:id="rId7"/>
    <p:sldId id="305" r:id="rId8"/>
    <p:sldId id="303" r:id="rId9"/>
    <p:sldId id="304" r:id="rId10"/>
    <p:sldId id="299" r:id="rId11"/>
    <p:sldId id="309" r:id="rId12"/>
    <p:sldId id="310" r:id="rId13"/>
    <p:sldId id="308" r:id="rId14"/>
    <p:sldId id="307" r:id="rId15"/>
    <p:sldId id="312" r:id="rId16"/>
    <p:sldId id="311" r:id="rId17"/>
    <p:sldId id="306"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8" r:id="rId33"/>
    <p:sldId id="327" r:id="rId34"/>
    <p:sldId id="340" r:id="rId35"/>
    <p:sldId id="341" r:id="rId36"/>
    <p:sldId id="342" r:id="rId37"/>
    <p:sldId id="343" r:id="rId38"/>
    <p:sldId id="329" r:id="rId39"/>
    <p:sldId id="330" r:id="rId40"/>
    <p:sldId id="332" r:id="rId41"/>
    <p:sldId id="331" r:id="rId42"/>
    <p:sldId id="284" r:id="rId43"/>
    <p:sldId id="333" r:id="rId44"/>
    <p:sldId id="334" r:id="rId45"/>
    <p:sldId id="335" r:id="rId46"/>
    <p:sldId id="336" r:id="rId47"/>
    <p:sldId id="337" r:id="rId48"/>
    <p:sldId id="338" r:id="rId49"/>
    <p:sldId id="33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266"/>
    <a:srgbClr val="FACDAE"/>
    <a:srgbClr val="FC9D99"/>
    <a:srgbClr val="381850"/>
    <a:srgbClr val="6FBB65"/>
    <a:srgbClr val="FC4A7E"/>
    <a:srgbClr val="3ECE9E"/>
    <a:srgbClr val="84AF9B"/>
    <a:srgbClr val="C8C7A8"/>
    <a:srgbClr val="93D6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115" d="100"/>
          <a:sy n="115" d="100"/>
        </p:scale>
        <p:origin x="432" y="11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A674-CED6-484D-8454-75B9D39D03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FBC070-0098-45DE-903E-B3963AD59F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28DEB1-B9F0-4548-BC60-63625D863F50}"/>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98497F0C-4460-4CBF-BD4F-04A1FD00A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58E0E1-A3F2-4C31-B6D9-09BB4BCD1FEB}"/>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311615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9018-381A-42BC-BFCD-0704158DBD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5A71B5-E12F-4E5B-96FE-ADD8320D40F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7C489-7944-4A6B-B364-6EF5865ECA6E}"/>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5543E333-13C5-4984-95A1-88F63DC66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B18F1-0FED-4A5E-B01D-A05BD7DC7244}"/>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101289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B6E58-3819-4E74-A15B-8EC5361E6E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3B3B81-077D-4EA6-B457-7DC8E8A3E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47334A3-C29D-47AA-A4C5-5B77834E184D}"/>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5B3D7A02-7480-445D-9086-823D3599BD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78D26-50D8-4A18-826C-5088CD90D5C6}"/>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239738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21A18-B853-4C4B-9869-0D6EEC6F29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A82BF4-8D66-4D18-BC52-266F669C816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063194-38A3-48F9-BF51-20705AE471F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D02B0F-B056-451A-A08C-ECE3690D9B0A}"/>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6" name="Footer Placeholder 5">
            <a:extLst>
              <a:ext uri="{FF2B5EF4-FFF2-40B4-BE49-F238E27FC236}">
                <a16:creationId xmlns:a16="http://schemas.microsoft.com/office/drawing/2014/main" id="{DEA3CE37-ACBC-4001-9257-8CDAD7D617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0E9C02-13DA-4213-B777-B74BAB839D73}"/>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343648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9C3E1-D0C3-4F83-960B-196695A5DB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282791-D744-4FFD-B2C1-DBB1306368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9F8D08-0B51-41BD-9FEB-794FB326106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0FD374-F5C3-4395-8EC7-DC0233312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778F625-875D-499D-AB17-D59086B827C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607281-8F29-4F10-9BAC-1D785DBF4B67}"/>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8" name="Footer Placeholder 7">
            <a:extLst>
              <a:ext uri="{FF2B5EF4-FFF2-40B4-BE49-F238E27FC236}">
                <a16:creationId xmlns:a16="http://schemas.microsoft.com/office/drawing/2014/main" id="{25E813D3-2765-4743-A990-AD8E474283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D2E69A-5F6F-425E-87E8-01F8B16ED45C}"/>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278176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0E8D-71D6-4DBF-9C86-5D60BD7CAC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7E6019-5941-4057-8843-017DF357BDD1}"/>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4" name="Footer Placeholder 3">
            <a:extLst>
              <a:ext uri="{FF2B5EF4-FFF2-40B4-BE49-F238E27FC236}">
                <a16:creationId xmlns:a16="http://schemas.microsoft.com/office/drawing/2014/main" id="{8E9E08F1-06EC-4796-9E57-9C92CE6549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1A06FF-D87C-40AC-ADC5-AE53CAE6A13F}"/>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328495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E372BB-E41C-4D4E-91CE-094A18FF6340}"/>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3" name="Footer Placeholder 2">
            <a:extLst>
              <a:ext uri="{FF2B5EF4-FFF2-40B4-BE49-F238E27FC236}">
                <a16:creationId xmlns:a16="http://schemas.microsoft.com/office/drawing/2014/main" id="{628F2F2B-6057-456D-97F8-3DC05B9800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6A766B-B067-44FF-80EF-90A95DA083B4}"/>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1793073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5D7B-FC66-4DDB-AF2C-2C2712A5C4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273E95-532A-4537-818E-21A1AD4E1C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9866AE-8B7E-4EAD-816E-0EBA34FF11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9AADFC-269E-4420-A949-C29ABD757263}"/>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6" name="Footer Placeholder 5">
            <a:extLst>
              <a:ext uri="{FF2B5EF4-FFF2-40B4-BE49-F238E27FC236}">
                <a16:creationId xmlns:a16="http://schemas.microsoft.com/office/drawing/2014/main" id="{73EE7559-BE9D-4A2A-BE47-FF89573394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BC039-F3CE-47AE-93A1-66F3A9B1E099}"/>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144891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F72B-E9A7-49CA-BE4A-3256C8B975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7CDD87-C16E-4679-8B39-934940389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F20AA4-D86F-4642-B96F-2E4B4ED86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FC6C4C1-2D83-443B-80DF-C96852E98D62}"/>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6" name="Footer Placeholder 5">
            <a:extLst>
              <a:ext uri="{FF2B5EF4-FFF2-40B4-BE49-F238E27FC236}">
                <a16:creationId xmlns:a16="http://schemas.microsoft.com/office/drawing/2014/main" id="{F5651CED-4C33-452F-970F-0916999E98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630EEF-E630-457B-8165-D794714FB696}"/>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2900530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6919B-08B6-4B12-ADCB-7D8EF857E0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42833C-6F5F-44E6-AD9F-4764E70B951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7D572-93C0-4109-BF9E-EE714B0FA7EB}"/>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831F0FA4-404C-4950-849D-30CF5B9E9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2DB8C-E3D1-48DD-8AD3-4337D5427B01}"/>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142529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A27DF-60EB-4ACA-93A9-CDECA72272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53E89F-F3FC-469C-BFD2-ABBAC4CC93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CCCF9-E79E-475C-AB9F-05473C425C42}"/>
              </a:ext>
            </a:extLst>
          </p:cNvPr>
          <p:cNvSpPr>
            <a:spLocks noGrp="1"/>
          </p:cNvSpPr>
          <p:nvPr>
            <p:ph type="dt" sz="half" idx="10"/>
          </p:nvPr>
        </p:nvSpPr>
        <p:spPr/>
        <p:txBody>
          <a:body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DCC7FB93-87BF-4573-B387-3D2F0735C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BE9E86-235A-4E9B-84DD-34D24E003988}"/>
              </a:ext>
            </a:extLst>
          </p:cNvPr>
          <p:cNvSpPr>
            <a:spLocks noGrp="1"/>
          </p:cNvSpPr>
          <p:nvPr>
            <p:ph type="sldNum" sz="quarter" idx="12"/>
          </p:nvPr>
        </p:nvSpPr>
        <p:spPr/>
        <p:txBody>
          <a:bodyPr/>
          <a:lstStyle/>
          <a:p>
            <a:fld id="{20CC475A-FC22-4BB2-81DE-26878B72C705}" type="slidenum">
              <a:rPr lang="en-US" smtClean="0"/>
              <a:t>‹#›</a:t>
            </a:fld>
            <a:endParaRPr lang="en-US"/>
          </a:p>
        </p:txBody>
      </p:sp>
    </p:spTree>
    <p:extLst>
      <p:ext uri="{BB962C8B-B14F-4D97-AF65-F5344CB8AC3E}">
        <p14:creationId xmlns:p14="http://schemas.microsoft.com/office/powerpoint/2010/main" val="1107955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141A8F-16B4-42B4-BCD2-9D527AEE52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048783-6F45-4CD5-8CBD-3CB1AE64BA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955B1-9F51-4C46-AD48-26807E68AC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7DA69C-A3BC-48FB-828D-5A6E6B919454}" type="datetimeFigureOut">
              <a:rPr lang="en-US" smtClean="0"/>
              <a:t>12/29/2025</a:t>
            </a:fld>
            <a:endParaRPr lang="en-US"/>
          </a:p>
        </p:txBody>
      </p:sp>
      <p:sp>
        <p:nvSpPr>
          <p:cNvPr id="5" name="Footer Placeholder 4">
            <a:extLst>
              <a:ext uri="{FF2B5EF4-FFF2-40B4-BE49-F238E27FC236}">
                <a16:creationId xmlns:a16="http://schemas.microsoft.com/office/drawing/2014/main" id="{0BB688D8-FB80-49EF-B593-170DCB4FFF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269C12-CA27-4FD4-8883-4CDB70D8C2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C475A-FC22-4BB2-81DE-26878B72C705}" type="slidenum">
              <a:rPr lang="en-US" smtClean="0"/>
              <a:t>‹#›</a:t>
            </a:fld>
            <a:endParaRPr lang="en-US"/>
          </a:p>
        </p:txBody>
      </p:sp>
    </p:spTree>
    <p:extLst>
      <p:ext uri="{BB962C8B-B14F-4D97-AF65-F5344CB8AC3E}">
        <p14:creationId xmlns:p14="http://schemas.microsoft.com/office/powerpoint/2010/main" val="36193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7.xml"/><Relationship Id="rId5" Type="http://schemas.openxmlformats.org/officeDocument/2006/relationships/image" Target="../media/image37.jpg"/><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7.xml"/><Relationship Id="rId4" Type="http://schemas.openxmlformats.org/officeDocument/2006/relationships/image" Target="../media/image42.jpeg"/></Relationships>
</file>

<file path=ppt/slides/_rels/slide2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 Id="rId5" Type="http://schemas.openxmlformats.org/officeDocument/2006/relationships/image" Target="../media/image46.jpeg"/><Relationship Id="rId4" Type="http://schemas.openxmlformats.org/officeDocument/2006/relationships/image" Target="../media/image45.jpeg"/></Relationships>
</file>

<file path=ppt/slides/_rels/slide2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7.xml"/><Relationship Id="rId4" Type="http://schemas.openxmlformats.org/officeDocument/2006/relationships/image" Target="../media/image49.jpeg"/></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 Id="rId5" Type="http://schemas.openxmlformats.org/officeDocument/2006/relationships/image" Target="../media/image53.jpeg"/><Relationship Id="rId4" Type="http://schemas.openxmlformats.org/officeDocument/2006/relationships/image" Target="../media/image52.jpeg"/></Relationships>
</file>

<file path=ppt/slides/_rels/slide3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3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7.xml"/><Relationship Id="rId5" Type="http://schemas.openxmlformats.org/officeDocument/2006/relationships/image" Target="../media/image60.jpeg"/><Relationship Id="rId4" Type="http://schemas.openxmlformats.org/officeDocument/2006/relationships/image" Target="../media/image59.jpeg"/></Relationships>
</file>

<file path=ppt/slides/_rels/slide3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png"/><Relationship Id="rId1" Type="http://schemas.openxmlformats.org/officeDocument/2006/relationships/slideLayout" Target="../slideLayouts/slideLayout7.xml"/><Relationship Id="rId5" Type="http://schemas.openxmlformats.org/officeDocument/2006/relationships/image" Target="../media/image66.jpg"/><Relationship Id="rId4" Type="http://schemas.openxmlformats.org/officeDocument/2006/relationships/image" Target="../media/image6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69.png"/><Relationship Id="rId1" Type="http://schemas.openxmlformats.org/officeDocument/2006/relationships/slideLayout" Target="../slideLayouts/slideLayout7.xml"/><Relationship Id="rId5" Type="http://schemas.openxmlformats.org/officeDocument/2006/relationships/image" Target="../media/image72.jpg"/><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dcca.org.vn/bao-cao-ve-ky-thuat-so-viet-nam-2024" TargetMode="External"/><Relationship Id="rId7" Type="http://schemas.openxmlformats.org/officeDocument/2006/relationships/hyperlink" Target="https://dev.mysql.com/doc/" TargetMode="External"/><Relationship Id="rId2" Type="http://schemas.openxmlformats.org/officeDocument/2006/relationships/hyperlink" Target="https://www.mpi.gov.vn/portal/Pages/2024-7-1/INFOGRAPHIC-Tinh-hinh-thi-truong-lao-dong-viec-lamgigzi0.aspx" TargetMode="External"/><Relationship Id="rId1" Type="http://schemas.openxmlformats.org/officeDocument/2006/relationships/slideLayout" Target="../slideLayouts/slideLayout7.xml"/><Relationship Id="rId6" Type="http://schemas.openxmlformats.org/officeDocument/2006/relationships/hyperlink" Target="https://redux.js.org/introduction/getting-started" TargetMode="External"/><Relationship Id="rId5" Type="http://schemas.openxmlformats.org/officeDocument/2006/relationships/hyperlink" Target="https://nodejs.org/en/learn/getting-started/introduction-to-nodejs" TargetMode="External"/><Relationship Id="rId4" Type="http://schemas.openxmlformats.org/officeDocument/2006/relationships/hyperlink" Target="https://reactnative.dev/" TargetMode="External"/></Relationships>
</file>

<file path=ppt/slides/_rels/slide42.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79.jpg"/><Relationship Id="rId1" Type="http://schemas.openxmlformats.org/officeDocument/2006/relationships/slideLayout" Target="../slideLayouts/slideLayout7.xml"/><Relationship Id="rId4" Type="http://schemas.openxmlformats.org/officeDocument/2006/relationships/image" Target="../media/image8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image" Target="../media/image82.jpg"/><Relationship Id="rId1" Type="http://schemas.openxmlformats.org/officeDocument/2006/relationships/slideLayout" Target="../slideLayouts/slideLayout7.xml"/><Relationship Id="rId5" Type="http://schemas.openxmlformats.org/officeDocument/2006/relationships/image" Target="../media/image85.jpg"/><Relationship Id="rId4" Type="http://schemas.openxmlformats.org/officeDocument/2006/relationships/image" Target="../media/image84.jpg"/></Relationships>
</file>

<file path=ppt/slides/_rels/slide4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7.xml"/><Relationship Id="rId4" Type="http://schemas.openxmlformats.org/officeDocument/2006/relationships/image" Target="../media/image88.jpeg"/></Relationships>
</file>

<file path=ppt/slides/_rels/slide49.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image" Target="../media/image89.jpg"/><Relationship Id="rId1" Type="http://schemas.openxmlformats.org/officeDocument/2006/relationships/slideLayout" Target="../slideLayouts/slideLayout7.xml"/><Relationship Id="rId4" Type="http://schemas.openxmlformats.org/officeDocument/2006/relationships/image" Target="../media/image9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Tree>
    <p:extLst>
      <p:ext uri="{BB962C8B-B14F-4D97-AF65-F5344CB8AC3E}">
        <p14:creationId xmlns:p14="http://schemas.microsoft.com/office/powerpoint/2010/main" val="31459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8" name="TextBox 7">
            <a:extLst>
              <a:ext uri="{FF2B5EF4-FFF2-40B4-BE49-F238E27FC236}">
                <a16:creationId xmlns:a16="http://schemas.microsoft.com/office/drawing/2014/main" id="{6C4C8FCC-0C44-4D58-B09B-780388840722}"/>
              </a:ext>
            </a:extLst>
          </p:cNvPr>
          <p:cNvSpPr txBox="1"/>
          <p:nvPr/>
        </p:nvSpPr>
        <p:spPr>
          <a:xfrm>
            <a:off x="191729" y="0"/>
            <a:ext cx="12000271" cy="4278094"/>
          </a:xfrm>
          <a:prstGeom prst="rect">
            <a:avLst/>
          </a:prstGeom>
          <a:solidFill>
            <a:schemeClr val="bg1">
              <a:alpha val="0"/>
            </a:schemeClr>
          </a:solidFill>
          <a:effectLst>
            <a:innerShdw blurRad="63500" dist="50800" dir="18900000">
              <a:prstClr val="black">
                <a:alpha val="50000"/>
              </a:prstClr>
            </a:innerShdw>
          </a:effectLst>
        </p:spPr>
        <p:txBody>
          <a:bodyPr wrap="square" rtlCol="0">
            <a:spAutoFit/>
          </a:bodyPr>
          <a:lstStyle/>
          <a:p>
            <a:pPr algn="ctr"/>
            <a:r>
              <a:rPr lang="en-US" sz="2800" b="1" dirty="0">
                <a:solidFill>
                  <a:srgbClr val="0070C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t>
            </a:r>
            <a:r>
              <a:rPr lang="vi-VN" sz="2800" b="1" dirty="0">
                <a:solidFill>
                  <a:srgbClr val="0070C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Ư</a:t>
            </a:r>
            <a:r>
              <a:rPr lang="en-US" sz="2800" b="1" dirty="0">
                <a:solidFill>
                  <a:srgbClr val="0070C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ỜNG ĐẠI HỌC BÁCH KHOA TP HỒ CHÍ MINH</a:t>
            </a:r>
          </a:p>
          <a:p>
            <a:pPr algn="ctr"/>
            <a:r>
              <a:rPr lang="en-US" sz="2800" b="1" dirty="0">
                <a:solidFill>
                  <a:srgbClr val="0070C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KHOA KỸ KHOA HỌC VÀ KỸ THUẬT MÁY TÍNH</a:t>
            </a:r>
          </a:p>
          <a:p>
            <a:pPr algn="ctr"/>
            <a:endParaRPr lang="en-US" sz="2800" b="1" dirty="0">
              <a:solidFill>
                <a:schemeClr val="accent1">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r>
              <a:rPr lang="en-US" sz="2800" b="1" i="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en-US" sz="2800" b="1" dirty="0">
              <a:latin typeface="Arial" panose="020B0604020202020204" pitchFamily="34" charset="0"/>
              <a:cs typeface="Arial" panose="020B0604020202020204" pitchFamily="34" charset="0"/>
            </a:endParaRPr>
          </a:p>
          <a:p>
            <a:pPr algn="ctr"/>
            <a:r>
              <a:rPr lang="en-US" sz="4000"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ĐỒ ÁN TỐT NGHIỆP</a:t>
            </a:r>
          </a:p>
          <a:p>
            <a:pPr algn="ctr"/>
            <a:r>
              <a:rPr lang="en-US" sz="4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PHÁT TRIỂN NỀN TẢNG TÌM KIẾM VIỆC LÀM, TUYỂN DỤNG VÀ TƯ VẤN NGHỀ NGHIỆP TÍCH HỢP AI. </a:t>
            </a:r>
          </a:p>
        </p:txBody>
      </p:sp>
      <p:pic>
        <p:nvPicPr>
          <p:cNvPr id="9" name="Picture 6">
            <a:extLst>
              <a:ext uri="{FF2B5EF4-FFF2-40B4-BE49-F238E27FC236}">
                <a16:creationId xmlns:a16="http://schemas.microsoft.com/office/drawing/2014/main" id="{8DDDD3A0-C2CF-42E7-B25C-83B185D60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6877" y="0"/>
            <a:ext cx="1165123" cy="1188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996391" y="4788130"/>
            <a:ext cx="4390946" cy="923330"/>
          </a:xfrm>
          <a:prstGeom prst="rect">
            <a:avLst/>
          </a:prstGeom>
          <a:noFill/>
        </p:spPr>
        <p:txBody>
          <a:bodyPr wrap="none" rtlCol="0">
            <a:spAutoFit/>
          </a:bodyPr>
          <a:lstStyle/>
          <a:p>
            <a:r>
              <a:rPr lang="en-US"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MĐT: HK251-DATN-028</a:t>
            </a:r>
          </a:p>
          <a:p>
            <a:r>
              <a:rPr lang="en-US"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GVHD: TS. TRƯƠNG TUẤN ANH</a:t>
            </a:r>
          </a:p>
          <a:p>
            <a:r>
              <a:rPr lang="en-US"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SVTH: ĐẶNG THANH HÀNG – 2220005</a:t>
            </a:r>
          </a:p>
        </p:txBody>
      </p:sp>
      <p:sp>
        <p:nvSpPr>
          <p:cNvPr id="6" name="TextBox 5"/>
          <p:cNvSpPr txBox="1"/>
          <p:nvPr/>
        </p:nvSpPr>
        <p:spPr>
          <a:xfrm>
            <a:off x="3927778" y="5988459"/>
            <a:ext cx="4750018"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Thành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a:t>
            </a:r>
            <a:r>
              <a:rPr lang="en-US" dirty="0">
                <a:latin typeface="Arial" panose="020B0604020202020204" pitchFamily="34" charset="0"/>
                <a:cs typeface="Arial" panose="020B0604020202020204" pitchFamily="34" charset="0"/>
              </a:rPr>
              <a:t> Minh, </a:t>
            </a:r>
            <a:r>
              <a:rPr lang="en-US" dirty="0" err="1">
                <a:latin typeface="Arial" panose="020B0604020202020204" pitchFamily="34" charset="0"/>
                <a:cs typeface="Arial" panose="020B0604020202020204" pitchFamily="34" charset="0"/>
              </a:rPr>
              <a:t>tháng</a:t>
            </a:r>
            <a:r>
              <a:rPr lang="en-US" dirty="0">
                <a:latin typeface="Arial" panose="020B0604020202020204" pitchFamily="34" charset="0"/>
                <a:cs typeface="Arial" panose="020B0604020202020204" pitchFamily="34" charset="0"/>
              </a:rPr>
              <a:t> 12 </a:t>
            </a:r>
            <a:r>
              <a:rPr lang="en-US" dirty="0" err="1">
                <a:latin typeface="Arial" panose="020B0604020202020204" pitchFamily="34" charset="0"/>
                <a:cs typeface="Arial" panose="020B0604020202020204" pitchFamily="34" charset="0"/>
              </a:rPr>
              <a:t>năm</a:t>
            </a:r>
            <a:r>
              <a:rPr lang="en-US" dirty="0">
                <a:latin typeface="Arial" panose="020B0604020202020204" pitchFamily="34" charset="0"/>
                <a:cs typeface="Arial" panose="020B0604020202020204" pitchFamily="34" charset="0"/>
              </a:rPr>
              <a:t> 2025</a:t>
            </a:r>
          </a:p>
        </p:txBody>
      </p:sp>
    </p:spTree>
    <p:extLst>
      <p:ext uri="{BB962C8B-B14F-4D97-AF65-F5344CB8AC3E}">
        <p14:creationId xmlns:p14="http://schemas.microsoft.com/office/powerpoint/2010/main" val="234984051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2"/>
          <p:cNvSpPr/>
          <p:nvPr/>
        </p:nvSpPr>
        <p:spPr>
          <a:xfrm>
            <a:off x="0" y="-2397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20" name="TextBox 19">
            <a:extLst>
              <a:ext uri="{FF2B5EF4-FFF2-40B4-BE49-F238E27FC236}">
                <a16:creationId xmlns:a16="http://schemas.microsoft.com/office/drawing/2014/main" id="{273EC583-1B6B-44C3-B874-A0E7EB83EA14}"/>
              </a:ext>
            </a:extLst>
          </p:cNvPr>
          <p:cNvSpPr txBox="1"/>
          <p:nvPr/>
        </p:nvSpPr>
        <p:spPr>
          <a:xfrm>
            <a:off x="3683391" y="280314"/>
            <a:ext cx="4825218" cy="769441"/>
          </a:xfrm>
          <a:prstGeom prst="rect">
            <a:avLst/>
          </a:prstGeom>
          <a:noFill/>
        </p:spPr>
        <p:txBody>
          <a:bodyPr wrap="square" rtlCol="0">
            <a:spAutoFit/>
          </a:bodyPr>
          <a:lstStyle/>
          <a:p>
            <a:r>
              <a:rPr lang="en-US" sz="4400" b="1" dirty="0">
                <a:solidFill>
                  <a:srgbClr val="FF0000"/>
                </a:solidFill>
              </a:rPr>
              <a:t>	</a:t>
            </a:r>
            <a:r>
              <a:rPr lang="en-US" sz="4400" b="1" dirty="0">
                <a:solidFill>
                  <a:srgbClr val="FF0000"/>
                </a:solidFill>
                <a:latin typeface="Arial" panose="020B0604020202020204" pitchFamily="34" charset="0"/>
                <a:cs typeface="Arial" panose="020B0604020202020204" pitchFamily="34" charset="0"/>
              </a:rPr>
              <a:t>NỘI DUNG</a:t>
            </a:r>
          </a:p>
        </p:txBody>
      </p:sp>
      <p:grpSp>
        <p:nvGrpSpPr>
          <p:cNvPr id="4" name="Group 3"/>
          <p:cNvGrpSpPr/>
          <p:nvPr/>
        </p:nvGrpSpPr>
        <p:grpSpPr>
          <a:xfrm>
            <a:off x="1835728" y="1499641"/>
            <a:ext cx="8520544" cy="3810778"/>
            <a:chOff x="1596044" y="1812175"/>
            <a:chExt cx="8520544" cy="3810778"/>
          </a:xfrm>
        </p:grpSpPr>
        <p:sp>
          <p:nvSpPr>
            <p:cNvPr id="2" name="Flowchart: Connector 1"/>
            <p:cNvSpPr/>
            <p:nvPr/>
          </p:nvSpPr>
          <p:spPr>
            <a:xfrm>
              <a:off x="1596044" y="1812175"/>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 name="Pentagon 2"/>
            <p:cNvSpPr/>
            <p:nvPr/>
          </p:nvSpPr>
          <p:spPr>
            <a:xfrm flipH="1">
              <a:off x="1911926" y="1812175"/>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GIỚI THIỆU ĐỀ TÀI</a:t>
              </a:r>
            </a:p>
          </p:txBody>
        </p:sp>
        <p:sp>
          <p:nvSpPr>
            <p:cNvPr id="6" name="Flowchart: Connector 5"/>
            <p:cNvSpPr/>
            <p:nvPr/>
          </p:nvSpPr>
          <p:spPr>
            <a:xfrm>
              <a:off x="1596044" y="2250076"/>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Pentagon 6"/>
            <p:cNvSpPr/>
            <p:nvPr/>
          </p:nvSpPr>
          <p:spPr>
            <a:xfrm flipH="1">
              <a:off x="1911926" y="2250076"/>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CÁC HỆ THỐNG TƯƠNG TỰ TRÊN THỊ TRƯỜNG</a:t>
              </a:r>
            </a:p>
          </p:txBody>
        </p:sp>
        <p:sp>
          <p:nvSpPr>
            <p:cNvPr id="8" name="Flowchart: Connector 7"/>
            <p:cNvSpPr/>
            <p:nvPr/>
          </p:nvSpPr>
          <p:spPr>
            <a:xfrm>
              <a:off x="1596044" y="2687977"/>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Pentagon 8"/>
            <p:cNvSpPr/>
            <p:nvPr/>
          </p:nvSpPr>
          <p:spPr>
            <a:xfrm flipH="1">
              <a:off x="1911926" y="2687977"/>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PHÂN TÍCH HỆ THỐNG</a:t>
              </a:r>
            </a:p>
          </p:txBody>
        </p:sp>
        <p:sp>
          <p:nvSpPr>
            <p:cNvPr id="10" name="Flowchart: Connector 9"/>
            <p:cNvSpPr/>
            <p:nvPr/>
          </p:nvSpPr>
          <p:spPr>
            <a:xfrm>
              <a:off x="1596044" y="3125878"/>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 name="Pentagon 10"/>
            <p:cNvSpPr/>
            <p:nvPr/>
          </p:nvSpPr>
          <p:spPr>
            <a:xfrm flipH="1">
              <a:off x="1911926" y="3125878"/>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THIẾT KẾ HỆ THỐNG</a:t>
              </a:r>
            </a:p>
          </p:txBody>
        </p:sp>
        <p:sp>
          <p:nvSpPr>
            <p:cNvPr id="12" name="Flowchart: Connector 11"/>
            <p:cNvSpPr/>
            <p:nvPr/>
          </p:nvSpPr>
          <p:spPr>
            <a:xfrm>
              <a:off x="1596044" y="3563779"/>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3" name="Pentagon 12"/>
            <p:cNvSpPr/>
            <p:nvPr/>
          </p:nvSpPr>
          <p:spPr>
            <a:xfrm flipH="1">
              <a:off x="1911926" y="3563779"/>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HIỆN THỰC HỆ THỐNG</a:t>
              </a:r>
            </a:p>
          </p:txBody>
        </p:sp>
        <p:sp>
          <p:nvSpPr>
            <p:cNvPr id="14" name="Flowchart: Connector 13"/>
            <p:cNvSpPr/>
            <p:nvPr/>
          </p:nvSpPr>
          <p:spPr>
            <a:xfrm>
              <a:off x="1596044" y="4001680"/>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 name="Pentagon 14"/>
            <p:cNvSpPr/>
            <p:nvPr/>
          </p:nvSpPr>
          <p:spPr>
            <a:xfrm flipH="1">
              <a:off x="1911926" y="4001680"/>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TÍNH NĂNG AI CỦA HỆ THỐNG</a:t>
              </a:r>
            </a:p>
          </p:txBody>
        </p:sp>
        <p:sp>
          <p:nvSpPr>
            <p:cNvPr id="16" name="Flowchart: Connector 15"/>
            <p:cNvSpPr/>
            <p:nvPr/>
          </p:nvSpPr>
          <p:spPr>
            <a:xfrm>
              <a:off x="1596044" y="4439581"/>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7" name="Pentagon 16"/>
            <p:cNvSpPr/>
            <p:nvPr/>
          </p:nvSpPr>
          <p:spPr>
            <a:xfrm flipH="1">
              <a:off x="1911926" y="4439581"/>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KIỂM THỬ HỆ THỐNG</a:t>
              </a:r>
            </a:p>
          </p:txBody>
        </p:sp>
        <p:sp>
          <p:nvSpPr>
            <p:cNvPr id="18" name="Flowchart: Connector 17"/>
            <p:cNvSpPr/>
            <p:nvPr/>
          </p:nvSpPr>
          <p:spPr>
            <a:xfrm>
              <a:off x="1596044" y="4877482"/>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1" name="Pentagon 20"/>
            <p:cNvSpPr/>
            <p:nvPr/>
          </p:nvSpPr>
          <p:spPr>
            <a:xfrm flipH="1">
              <a:off x="1911926" y="4877482"/>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TRIỂN KHAI HỆ THỐNG TRÊN AWS</a:t>
              </a:r>
            </a:p>
          </p:txBody>
        </p:sp>
        <p:sp>
          <p:nvSpPr>
            <p:cNvPr id="22" name="Flowchart: Connector 21"/>
            <p:cNvSpPr/>
            <p:nvPr/>
          </p:nvSpPr>
          <p:spPr>
            <a:xfrm>
              <a:off x="1596044" y="5315383"/>
              <a:ext cx="315883" cy="30757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3" name="Pentagon 22"/>
            <p:cNvSpPr/>
            <p:nvPr/>
          </p:nvSpPr>
          <p:spPr>
            <a:xfrm flipH="1">
              <a:off x="1911926" y="5315383"/>
              <a:ext cx="8204662" cy="30757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	KẾT LUẬN</a:t>
              </a:r>
            </a:p>
          </p:txBody>
        </p:sp>
      </p:grpSp>
    </p:spTree>
    <p:extLst>
      <p:ext uri="{BB962C8B-B14F-4D97-AF65-F5344CB8AC3E}">
        <p14:creationId xmlns:p14="http://schemas.microsoft.com/office/powerpoint/2010/main" val="998977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132940" y="110699"/>
            <a:ext cx="5926121" cy="677108"/>
          </a:xfrm>
          <a:prstGeom prst="rect">
            <a:avLst/>
          </a:prstGeom>
          <a:noFill/>
        </p:spPr>
        <p:txBody>
          <a:bodyPr wrap="square" rtlCol="0">
            <a:spAutoFit/>
          </a:bodyPr>
          <a:lstStyle/>
          <a:p>
            <a:r>
              <a:rPr lang="en-US" sz="3800" b="1" dirty="0">
                <a:solidFill>
                  <a:srgbClr val="FF0000"/>
                </a:solidFill>
                <a:latin typeface="Arial" panose="020B0604020202020204" pitchFamily="34" charset="0"/>
                <a:cs typeface="Arial" panose="020B0604020202020204" pitchFamily="34" charset="0"/>
              </a:rPr>
              <a:t>1. GIỚI THIỆU ĐỀ TÀI</a:t>
            </a:r>
          </a:p>
        </p:txBody>
      </p:sp>
      <p:sp>
        <p:nvSpPr>
          <p:cNvPr id="3" name="Rounded Rectangle 2"/>
          <p:cNvSpPr/>
          <p:nvPr/>
        </p:nvSpPr>
        <p:spPr>
          <a:xfrm>
            <a:off x="727364" y="1188722"/>
            <a:ext cx="10737272" cy="513726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3"/>
          <p:cNvSpPr/>
          <p:nvPr/>
        </p:nvSpPr>
        <p:spPr>
          <a:xfrm>
            <a:off x="1440253" y="1249643"/>
            <a:ext cx="1197864" cy="1197864"/>
          </a:xfrm>
          <a:custGeom>
            <a:avLst/>
            <a:gdLst/>
            <a:ahLst/>
            <a:cxnLst/>
            <a:rect l="l" t="t" r="r" b="b"/>
            <a:pathLst>
              <a:path w="1598162" h="1584844">
                <a:moveTo>
                  <a:pt x="0" y="0"/>
                </a:moveTo>
                <a:lnTo>
                  <a:pt x="1598162" y="0"/>
                </a:lnTo>
                <a:lnTo>
                  <a:pt x="1598162" y="1584844"/>
                </a:lnTo>
                <a:lnTo>
                  <a:pt x="0" y="1584844"/>
                </a:lnTo>
                <a:lnTo>
                  <a:pt x="0" y="0"/>
                </a:lnTo>
                <a:close/>
              </a:path>
            </a:pathLst>
          </a:custGeom>
          <a:blipFill>
            <a:blip r:embed="rId2"/>
            <a:stretch>
              <a:fillRect/>
            </a:stretch>
          </a:blipFill>
        </p:spPr>
        <p:txBody>
          <a:bodyPr/>
          <a:lstStyle/>
          <a:p>
            <a:endParaRPr lang="en-US"/>
          </a:p>
        </p:txBody>
      </p:sp>
      <p:sp>
        <p:nvSpPr>
          <p:cNvPr id="10" name="Freeform 16"/>
          <p:cNvSpPr/>
          <p:nvPr/>
        </p:nvSpPr>
        <p:spPr>
          <a:xfrm>
            <a:off x="1440253" y="2535303"/>
            <a:ext cx="1197864" cy="1197864"/>
          </a:xfrm>
          <a:custGeom>
            <a:avLst/>
            <a:gdLst/>
            <a:ahLst/>
            <a:cxnLst/>
            <a:rect l="l" t="t" r="r" b="b"/>
            <a:pathLst>
              <a:path w="1598162" h="1598162">
                <a:moveTo>
                  <a:pt x="0" y="0"/>
                </a:moveTo>
                <a:lnTo>
                  <a:pt x="1598162" y="0"/>
                </a:lnTo>
                <a:lnTo>
                  <a:pt x="1598162" y="1598162"/>
                </a:lnTo>
                <a:lnTo>
                  <a:pt x="0" y="1598162"/>
                </a:lnTo>
                <a:lnTo>
                  <a:pt x="0" y="0"/>
                </a:lnTo>
                <a:close/>
              </a:path>
            </a:pathLst>
          </a:custGeom>
          <a:blipFill>
            <a:blip r:embed="rId3"/>
            <a:stretch>
              <a:fillRect/>
            </a:stretch>
          </a:blipFill>
        </p:spPr>
        <p:txBody>
          <a:bodyPr/>
          <a:lstStyle/>
          <a:p>
            <a:endParaRPr lang="en-US"/>
          </a:p>
        </p:txBody>
      </p:sp>
      <p:sp>
        <p:nvSpPr>
          <p:cNvPr id="11" name="Freeform 19"/>
          <p:cNvSpPr/>
          <p:nvPr/>
        </p:nvSpPr>
        <p:spPr>
          <a:xfrm>
            <a:off x="1440253" y="3807525"/>
            <a:ext cx="1197864" cy="1197864"/>
          </a:xfrm>
          <a:custGeom>
            <a:avLst/>
            <a:gdLst/>
            <a:ahLst/>
            <a:cxnLst/>
            <a:rect l="l" t="t" r="r" b="b"/>
            <a:pathLst>
              <a:path w="1598162" h="1600200">
                <a:moveTo>
                  <a:pt x="0" y="0"/>
                </a:moveTo>
                <a:lnTo>
                  <a:pt x="1598162" y="0"/>
                </a:lnTo>
                <a:lnTo>
                  <a:pt x="1598162" y="1600200"/>
                </a:lnTo>
                <a:lnTo>
                  <a:pt x="0" y="1600200"/>
                </a:lnTo>
                <a:lnTo>
                  <a:pt x="0" y="0"/>
                </a:lnTo>
                <a:close/>
              </a:path>
            </a:pathLst>
          </a:custGeom>
          <a:blipFill>
            <a:blip r:embed="rId4"/>
            <a:stretch>
              <a:fillRect b="-1675"/>
            </a:stretch>
          </a:blipFill>
        </p:spPr>
        <p:txBody>
          <a:bodyPr/>
          <a:lstStyle/>
          <a:p>
            <a:endParaRPr lang="en-US"/>
          </a:p>
        </p:txBody>
      </p:sp>
      <p:sp>
        <p:nvSpPr>
          <p:cNvPr id="12" name="Freeform 22"/>
          <p:cNvSpPr/>
          <p:nvPr/>
        </p:nvSpPr>
        <p:spPr>
          <a:xfrm>
            <a:off x="1440253" y="5079748"/>
            <a:ext cx="1197864" cy="1197864"/>
          </a:xfrm>
          <a:custGeom>
            <a:avLst/>
            <a:gdLst/>
            <a:ahLst/>
            <a:cxnLst/>
            <a:rect l="l" t="t" r="r" b="b"/>
            <a:pathLst>
              <a:path w="1598162" h="2112264">
                <a:moveTo>
                  <a:pt x="0" y="0"/>
                </a:moveTo>
                <a:lnTo>
                  <a:pt x="1598162" y="0"/>
                </a:lnTo>
                <a:lnTo>
                  <a:pt x="1598162" y="2112264"/>
                </a:lnTo>
                <a:lnTo>
                  <a:pt x="0" y="2112264"/>
                </a:lnTo>
                <a:lnTo>
                  <a:pt x="0" y="0"/>
                </a:lnTo>
                <a:close/>
              </a:path>
            </a:pathLst>
          </a:custGeom>
          <a:blipFill>
            <a:blip r:embed="rId5"/>
            <a:stretch>
              <a:fillRect l="-4736" r="-4736"/>
            </a:stretch>
          </a:blipFill>
        </p:spPr>
        <p:txBody>
          <a:bodyPr/>
          <a:lstStyle/>
          <a:p>
            <a:endParaRPr lang="en-US"/>
          </a:p>
        </p:txBody>
      </p:sp>
      <p:sp>
        <p:nvSpPr>
          <p:cNvPr id="2" name="TextBox 1"/>
          <p:cNvSpPr txBox="1"/>
          <p:nvPr/>
        </p:nvSpPr>
        <p:spPr>
          <a:xfrm>
            <a:off x="2754290" y="1340743"/>
            <a:ext cx="8184145" cy="1015663"/>
          </a:xfrm>
          <a:prstGeom prst="rect">
            <a:avLst/>
          </a:prstGeom>
          <a:noFill/>
        </p:spPr>
        <p:txBody>
          <a:bodyPr wrap="square" rtlCol="0">
            <a:spAutoFit/>
          </a:bodyPr>
          <a:lstStyle/>
          <a:p>
            <a:r>
              <a:rPr lang="en-US" sz="2000" b="1" dirty="0" err="1">
                <a:latin typeface="Arial" panose="020B0604020202020204" pitchFamily="34" charset="0"/>
                <a:cs typeface="Arial" panose="020B0604020202020204" pitchFamily="34" charset="0"/>
              </a:rPr>
              <a:t>Ngữ</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cảnh</a:t>
            </a:r>
            <a:r>
              <a:rPr lang="en-US" sz="2000" b="1"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thông</a:t>
            </a:r>
            <a:r>
              <a:rPr lang="en-US" sz="2000" dirty="0">
                <a:latin typeface="Arial" panose="020B0604020202020204" pitchFamily="34" charset="0"/>
                <a:cs typeface="Arial" panose="020B0604020202020204" pitchFamily="34" charset="0"/>
              </a:rPr>
              <a:t> tin </a:t>
            </a:r>
            <a:r>
              <a:rPr lang="en-US" sz="2000" dirty="0" err="1">
                <a:latin typeface="Arial" panose="020B0604020202020204" pitchFamily="34" charset="0"/>
                <a:cs typeface="Arial" panose="020B0604020202020204" pitchFamily="34" charset="0"/>
              </a:rPr>
              <a:t>thúc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đẩy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đổi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vấn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nhưng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vẫn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còn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thức</a:t>
            </a:r>
            <a:r>
              <a:rPr lang="en-US" sz="2000" dirty="0">
                <a:latin typeface="Arial" panose="020B0604020202020204" pitchFamily="34" charset="0"/>
                <a:cs typeface="Arial" panose="020B0604020202020204" pitchFamily="34" charset="0"/>
              </a:rPr>
              <a:t>.</a:t>
            </a:r>
          </a:p>
        </p:txBody>
      </p:sp>
      <p:sp>
        <p:nvSpPr>
          <p:cNvPr id="13" name="TextBox 12"/>
          <p:cNvSpPr txBox="1"/>
          <p:nvPr/>
        </p:nvSpPr>
        <p:spPr>
          <a:xfrm>
            <a:off x="2754290" y="2626403"/>
            <a:ext cx="8184145" cy="1015663"/>
          </a:xfrm>
          <a:prstGeom prst="rect">
            <a:avLst/>
          </a:prstGeom>
          <a:noFill/>
        </p:spPr>
        <p:txBody>
          <a:bodyPr wrap="square" rtlCol="0">
            <a:spAutoFit/>
          </a:bodyPr>
          <a:lstStyle/>
          <a:p>
            <a:r>
              <a:rPr lang="en-US" sz="2000" b="1" dirty="0" err="1">
                <a:latin typeface="Arial" panose="020B0604020202020204" pitchFamily="34" charset="0"/>
                <a:cs typeface="Arial" panose="020B0604020202020204" pitchFamily="34" charset="0"/>
              </a:rPr>
              <a:t>Tại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sao</a:t>
            </a:r>
            <a:r>
              <a:rPr lang="en-US" sz="2000" b="1"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thống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AI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hỗ</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người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kiếm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hồ</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sơ</a:t>
            </a:r>
            <a:r>
              <a:rPr lang="en-US" sz="2000" dirty="0">
                <a:latin typeface="Arial" panose="020B0604020202020204" pitchFamily="34" charset="0"/>
                <a:cs typeface="Arial" panose="020B0604020202020204" pitchFamily="34" charset="0"/>
              </a:rPr>
              <a:t>.</a:t>
            </a:r>
          </a:p>
        </p:txBody>
      </p:sp>
      <p:sp>
        <p:nvSpPr>
          <p:cNvPr id="14" name="TextBox 13"/>
          <p:cNvSpPr txBox="1"/>
          <p:nvPr/>
        </p:nvSpPr>
        <p:spPr>
          <a:xfrm>
            <a:off x="2754289" y="4206402"/>
            <a:ext cx="8184145" cy="400110"/>
          </a:xfrm>
          <a:prstGeom prst="rect">
            <a:avLst/>
          </a:prstGeom>
          <a:noFill/>
        </p:spPr>
        <p:txBody>
          <a:bodyPr wrap="square" rtlCol="0">
            <a:spAutoFit/>
          </a:bodyPr>
          <a:lstStyle/>
          <a:p>
            <a:r>
              <a:rPr lang="en-US" sz="2000" b="1" dirty="0" err="1">
                <a:latin typeface="Arial" panose="020B0604020202020204" pitchFamily="34" charset="0"/>
                <a:cs typeface="Arial" panose="020B0604020202020204" pitchFamily="34" charset="0"/>
              </a:rPr>
              <a:t>Mục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tiêu</a:t>
            </a:r>
            <a:r>
              <a:rPr lang="en-US" sz="2000" b="1"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người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a:t>
            </a:r>
          </a:p>
        </p:txBody>
      </p:sp>
      <p:sp>
        <p:nvSpPr>
          <p:cNvPr id="15" name="TextBox 14"/>
          <p:cNvSpPr txBox="1"/>
          <p:nvPr/>
        </p:nvSpPr>
        <p:spPr>
          <a:xfrm>
            <a:off x="2638117" y="5170848"/>
            <a:ext cx="8184145" cy="1015663"/>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Ý </a:t>
            </a:r>
            <a:r>
              <a:rPr lang="en-US" sz="2000" b="1" dirty="0" err="1">
                <a:latin typeface="Arial" panose="020B0604020202020204" pitchFamily="34" charset="0"/>
                <a:cs typeface="Arial" panose="020B0604020202020204" pitchFamily="34" charset="0"/>
              </a:rPr>
              <a:t>nghĩa</a:t>
            </a:r>
            <a:r>
              <a:rPr lang="en-US" sz="2000" b="1"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Thúc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đẩy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bằng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cung-cầu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kiếm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cảnh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4.0.</a:t>
            </a:r>
          </a:p>
        </p:txBody>
      </p:sp>
    </p:spTree>
    <p:extLst>
      <p:ext uri="{BB962C8B-B14F-4D97-AF65-F5344CB8AC3E}">
        <p14:creationId xmlns:p14="http://schemas.microsoft.com/office/powerpoint/2010/main" val="177368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73891" y="179048"/>
            <a:ext cx="12044218" cy="677108"/>
          </a:xfrm>
          <a:prstGeom prst="rect">
            <a:avLst/>
          </a:prstGeom>
          <a:noFill/>
        </p:spPr>
        <p:txBody>
          <a:bodyPr wrap="square" rtlCol="0">
            <a:spAutoFit/>
          </a:bodyPr>
          <a:lstStyle/>
          <a:p>
            <a:r>
              <a:rPr lang="en-US" sz="3800" b="1" dirty="0">
                <a:solidFill>
                  <a:srgbClr val="FF0000"/>
                </a:solidFill>
                <a:latin typeface="Arial" panose="020B0604020202020204" pitchFamily="34" charset="0"/>
                <a:cs typeface="Arial" panose="020B0604020202020204" pitchFamily="34" charset="0"/>
              </a:rPr>
              <a:t>2. CÁC HỆ THỐNG TƯƠNG TỰ TRÊN THỊ TRƯỜNG</a:t>
            </a:r>
          </a:p>
        </p:txBody>
      </p:sp>
      <p:sp>
        <p:nvSpPr>
          <p:cNvPr id="3" name="Rounded Rectangle 2"/>
          <p:cNvSpPr/>
          <p:nvPr/>
        </p:nvSpPr>
        <p:spPr>
          <a:xfrm>
            <a:off x="2207491" y="1188722"/>
            <a:ext cx="7499928" cy="513726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043054" y="1410855"/>
            <a:ext cx="1964111" cy="1964111"/>
          </a:xfrm>
          <a:prstGeom prst="rect">
            <a:avLst/>
          </a:prstGeom>
        </p:spPr>
      </p:pic>
      <p:sp>
        <p:nvSpPr>
          <p:cNvPr id="6" name="TextBox 5"/>
          <p:cNvSpPr txBox="1"/>
          <p:nvPr/>
        </p:nvSpPr>
        <p:spPr>
          <a:xfrm>
            <a:off x="3695856" y="3461790"/>
            <a:ext cx="5237331" cy="2308324"/>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Ưu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lâu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năm</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b="1" dirty="0" err="1">
                <a:latin typeface="Arial" panose="020B0604020202020204" pitchFamily="34" charset="0"/>
                <a:cs typeface="Arial" panose="020B0604020202020204" pitchFamily="34" charset="0"/>
              </a:rPr>
              <a:t>Nhược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a:t>
            </a:r>
          </a:p>
          <a:p>
            <a:pPr marL="285750" indent="-285750">
              <a:buFontTx/>
              <a:buChar char="-"/>
            </a:pPr>
            <a:r>
              <a:rPr lang="en-US" dirty="0">
                <a:latin typeface="Arial" panose="020B0604020202020204" pitchFamily="34" charset="0"/>
                <a:cs typeface="Arial" panose="020B0604020202020204" pitchFamily="34" charset="0"/>
              </a:rPr>
              <a:t>Chi </a:t>
            </a:r>
            <a:r>
              <a:rPr lang="en-US" dirty="0" err="1">
                <a:latin typeface="Arial" panose="020B0604020202020204" pitchFamily="34" charset="0"/>
                <a:cs typeface="Arial" panose="020B0604020202020204" pitchFamily="34" charset="0"/>
              </a:rPr>
              <a:t>phí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AI </a:t>
            </a:r>
            <a:r>
              <a:rPr lang="en-US" dirty="0" err="1">
                <a:latin typeface="Arial" panose="020B0604020202020204" pitchFamily="34" charset="0"/>
                <a:cs typeface="Arial" panose="020B0604020202020204" pitchFamily="34" charset="0"/>
              </a:rPr>
              <a:t>vẫn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còn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69661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73891" y="179048"/>
            <a:ext cx="12044218" cy="677108"/>
          </a:xfrm>
          <a:prstGeom prst="rect">
            <a:avLst/>
          </a:prstGeom>
          <a:noFill/>
        </p:spPr>
        <p:txBody>
          <a:bodyPr wrap="square" rtlCol="0">
            <a:spAutoFit/>
          </a:bodyPr>
          <a:lstStyle/>
          <a:p>
            <a:r>
              <a:rPr lang="en-US" sz="3800" b="1" dirty="0">
                <a:solidFill>
                  <a:srgbClr val="FF0000"/>
                </a:solidFill>
                <a:latin typeface="Arial" panose="020B0604020202020204" pitchFamily="34" charset="0"/>
                <a:cs typeface="Arial" panose="020B0604020202020204" pitchFamily="34" charset="0"/>
              </a:rPr>
              <a:t>2. CÁC HỆ THỐNG TƯƠNG TỰ TRÊN THỊ TRƯỜNG</a:t>
            </a:r>
          </a:p>
        </p:txBody>
      </p:sp>
      <p:sp>
        <p:nvSpPr>
          <p:cNvPr id="3" name="Rounded Rectangle 2"/>
          <p:cNvSpPr/>
          <p:nvPr/>
        </p:nvSpPr>
        <p:spPr>
          <a:xfrm>
            <a:off x="2207491" y="1188722"/>
            <a:ext cx="7499928" cy="513726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3055" y="1466707"/>
            <a:ext cx="1828800" cy="1828800"/>
          </a:xfrm>
          <a:prstGeom prst="rect">
            <a:avLst/>
          </a:prstGeom>
        </p:spPr>
      </p:pic>
      <p:sp>
        <p:nvSpPr>
          <p:cNvPr id="6" name="TextBox 5"/>
          <p:cNvSpPr txBox="1"/>
          <p:nvPr/>
        </p:nvSpPr>
        <p:spPr>
          <a:xfrm>
            <a:off x="3695856" y="3461790"/>
            <a:ext cx="5237331" cy="2585323"/>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Ưu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công</a:t>
            </a:r>
            <a:r>
              <a:rPr lang="en-US" dirty="0" smtClean="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a:t>
            </a:r>
          </a:p>
          <a:p>
            <a:pPr marL="285750" indent="-285750">
              <a:buFontTx/>
              <a:buChar char="-"/>
            </a:pPr>
            <a:r>
              <a:rPr lang="en-US" dirty="0" err="1">
                <a:latin typeface="Arial" panose="020B0604020202020204" pitchFamily="34" charset="0"/>
                <a:cs typeface="Arial" panose="020B0604020202020204" pitchFamily="34" charset="0"/>
              </a:rPr>
              <a:t>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lâu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năm</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b="1" dirty="0" err="1">
                <a:latin typeface="Arial" panose="020B0604020202020204" pitchFamily="34" charset="0"/>
                <a:cs typeface="Arial" panose="020B0604020202020204" pitchFamily="34" charset="0"/>
              </a:rPr>
              <a:t>Nhược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a:t>
            </a:r>
          </a:p>
          <a:p>
            <a:pPr marL="285750" indent="-285750">
              <a:buFontTx/>
              <a:buChar char="-"/>
            </a:pPr>
            <a:r>
              <a:rPr lang="en-US" dirty="0">
                <a:latin typeface="Arial" panose="020B0604020202020204" pitchFamily="34" charset="0"/>
                <a:cs typeface="Arial" panose="020B0604020202020204" pitchFamily="34" charset="0"/>
              </a:rPr>
              <a:t>Chi </a:t>
            </a:r>
            <a:r>
              <a:rPr lang="en-US" dirty="0" err="1">
                <a:latin typeface="Arial" panose="020B0604020202020204" pitchFamily="34" charset="0"/>
                <a:cs typeface="Arial" panose="020B0604020202020204" pitchFamily="34" charset="0"/>
              </a:rPr>
              <a:t>phí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smtClean="0">
                <a:latin typeface="Arial" panose="020B0604020202020204" pitchFamily="34" charset="0"/>
                <a:cs typeface="Arial" panose="020B0604020202020204" pitchFamily="34" charset="0"/>
              </a:rPr>
              <a:t>.</a:t>
            </a:r>
          </a:p>
          <a:p>
            <a:pPr marL="285750" indent="-285750">
              <a:buFontTx/>
              <a:buChar char="-"/>
            </a:pPr>
            <a:r>
              <a:rPr lang="en-US" dirty="0" err="1" smtClean="0">
                <a:latin typeface="Arial" panose="020B0604020202020204" pitchFamily="34" charset="0"/>
                <a:cs typeface="Arial" panose="020B0604020202020204" pitchFamily="34" charset="0"/>
              </a:rPr>
              <a:t>Bộ</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lọc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ngành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nghề</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chưa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đa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dạng</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FontTx/>
              <a:buChar char="-"/>
            </a:pP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AI </a:t>
            </a:r>
            <a:r>
              <a:rPr lang="en-US" dirty="0" err="1">
                <a:latin typeface="Arial" panose="020B0604020202020204" pitchFamily="34" charset="0"/>
                <a:cs typeface="Arial" panose="020B0604020202020204" pitchFamily="34" charset="0"/>
              </a:rPr>
              <a:t>vẫn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còn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2088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655782" y="1847932"/>
            <a:ext cx="10880436" cy="4247317"/>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Stakeholders: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b="1" dirty="0" err="1">
                <a:latin typeface="Arial" panose="020B0604020202020204" pitchFamily="34" charset="0"/>
                <a:cs typeface="Arial" panose="020B0604020202020204" pitchFamily="34" charset="0"/>
              </a:rPr>
              <a:t>Yêu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cầu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chức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kiếm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r>
              <a:rPr lang="en-US" b="1" dirty="0" err="1">
                <a:latin typeface="Arial" panose="020B0604020202020204" pitchFamily="34" charset="0"/>
                <a:cs typeface="Arial" panose="020B0604020202020204" pitchFamily="34" charset="0"/>
              </a:rPr>
              <a:t>Yêu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cầu</a:t>
            </a:r>
            <a:r>
              <a:rPr lang="en-US" b="1" dirty="0">
                <a:latin typeface="Arial" panose="020B0604020202020204" pitchFamily="34" charset="0"/>
                <a:cs typeface="Arial" panose="020B0604020202020204" pitchFamily="34" charset="0"/>
              </a:rPr>
              <a:t> phi </a:t>
            </a:r>
            <a:r>
              <a:rPr lang="en-US" b="1" dirty="0" err="1">
                <a:latin typeface="Arial" panose="020B0604020202020204" pitchFamily="34" charset="0"/>
                <a:cs typeface="Arial" panose="020B0604020202020204" pitchFamily="34" charset="0"/>
              </a:rPr>
              <a:t>chức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năng</a:t>
            </a:r>
            <a:r>
              <a:rPr lang="en-US" b="1"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Hiệu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suất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kiếm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2 </a:t>
            </a:r>
            <a:r>
              <a:rPr lang="en-US" dirty="0" err="1">
                <a:latin typeface="Arial" panose="020B0604020202020204" pitchFamily="34" charset="0"/>
                <a:cs typeface="Arial" panose="020B0604020202020204" pitchFamily="34" charset="0"/>
              </a:rPr>
              <a:t>giây</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ổn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di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phổ</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Androi</a:t>
            </a:r>
            <a:r>
              <a:rPr lang="en-US" dirty="0">
                <a:latin typeface="Arial" panose="020B0604020202020204" pitchFamily="34" charset="0"/>
                <a:cs typeface="Arial" panose="020B0604020202020204" pitchFamily="34" charset="0"/>
              </a:rPr>
              <a:t>, IOS.</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Khả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rộng</a:t>
            </a:r>
            <a:r>
              <a:rPr lang="en-US" dirty="0">
                <a:latin typeface="Arial" panose="020B0604020202020204" pitchFamily="34" charset="0"/>
                <a:cs typeface="Arial" panose="020B0604020202020204" pitchFamily="34" charset="0"/>
              </a:rPr>
              <a:t>: H</a:t>
            </a:r>
            <a:r>
              <a:rPr lang="vi-VN" dirty="0">
                <a:latin typeface="Arial" panose="020B0604020202020204" pitchFamily="34" charset="0"/>
                <a:cs typeface="Arial" panose="020B0604020202020204" pitchFamily="34" charset="0"/>
              </a:rPr>
              <a:t>ệ thống dễ dàng thêm các module chức năng mới mà không thay đổi cấu trúc cũ của chương trình. </a:t>
            </a:r>
            <a:endParaRPr lang="en-US" dirty="0">
              <a:latin typeface="Arial" panose="020B0604020202020204" pitchFamily="34" charset="0"/>
              <a:cs typeface="Arial" panose="020B0604020202020204" pitchFamily="34" charset="0"/>
            </a:endParaRPr>
          </a:p>
        </p:txBody>
      </p:sp>
      <p:sp>
        <p:nvSpPr>
          <p:cNvPr id="6" name="TextBox 5"/>
          <p:cNvSpPr txBox="1"/>
          <p:nvPr/>
        </p:nvSpPr>
        <p:spPr>
          <a:xfrm>
            <a:off x="3722598" y="1227293"/>
            <a:ext cx="4746813"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Yêu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cầu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chức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năng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và</a:t>
            </a:r>
            <a:r>
              <a:rPr lang="en-US" sz="2000" b="1" dirty="0">
                <a:latin typeface="Arial" panose="020B0604020202020204" pitchFamily="34" charset="0"/>
                <a:cs typeface="Arial" panose="020B0604020202020204" pitchFamily="34" charset="0"/>
              </a:rPr>
              <a:t> phi </a:t>
            </a:r>
            <a:r>
              <a:rPr lang="en-US" sz="2000" b="1" dirty="0" err="1">
                <a:latin typeface="Arial" panose="020B0604020202020204" pitchFamily="34" charset="0"/>
                <a:cs typeface="Arial" panose="020B0604020202020204" pitchFamily="34" charset="0"/>
              </a:rPr>
              <a:t>chức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năng</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727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46099"/>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4" name="TextBox 3"/>
          <p:cNvSpPr txBox="1"/>
          <p:nvPr/>
        </p:nvSpPr>
        <p:spPr>
          <a:xfrm>
            <a:off x="607635" y="2967643"/>
            <a:ext cx="3768980" cy="1138773"/>
          </a:xfrm>
          <a:prstGeom prst="rect">
            <a:avLst/>
          </a:prstGeom>
          <a:noFill/>
        </p:spPr>
        <p:txBody>
          <a:bodyPr wrap="none" rtlCol="0">
            <a:spAutoFit/>
          </a:bodyPr>
          <a:lstStyle/>
          <a:p>
            <a:pPr algn="ctr"/>
            <a:r>
              <a:rPr lang="en-US" sz="3400" b="1" dirty="0" err="1">
                <a:latin typeface="Arial" panose="020B0604020202020204" pitchFamily="34" charset="0"/>
                <a:cs typeface="Arial" panose="020B0604020202020204" pitchFamily="34" charset="0"/>
              </a:rPr>
              <a:t>Usecase</a:t>
            </a:r>
            <a:r>
              <a:rPr lang="en-US" sz="3400" b="1" dirty="0">
                <a:latin typeface="Arial" panose="020B0604020202020204" pitchFamily="34" charset="0"/>
                <a:cs typeface="Arial" panose="020B0604020202020204" pitchFamily="34" charset="0"/>
              </a:rPr>
              <a:t> diagram</a:t>
            </a:r>
          </a:p>
          <a:p>
            <a:pPr algn="ctr"/>
            <a:r>
              <a:rPr lang="en-US" sz="3400" b="1" dirty="0" err="1">
                <a:latin typeface="Arial" panose="020B0604020202020204" pitchFamily="34" charset="0"/>
                <a:cs typeface="Arial" panose="020B0604020202020204" pitchFamily="34" charset="0"/>
              </a:rPr>
              <a:t>Toàn</a:t>
            </a:r>
            <a:r>
              <a:rPr lang="en-US" sz="3400" b="1" dirty="0">
                <a:latin typeface="Arial" panose="020B0604020202020204" pitchFamily="34" charset="0"/>
                <a:cs typeface="Arial" panose="020B0604020202020204" pitchFamily="34" charset="0"/>
              </a:rPr>
              <a:t> </a:t>
            </a:r>
            <a:r>
              <a:rPr lang="en-US" sz="3400" b="1" dirty="0" err="1">
                <a:latin typeface="Arial" panose="020B0604020202020204" pitchFamily="34" charset="0"/>
                <a:cs typeface="Arial" panose="020B0604020202020204" pitchFamily="34" charset="0"/>
              </a:rPr>
              <a:t>hệ</a:t>
            </a:r>
            <a:r>
              <a:rPr lang="en-US" sz="3400" b="1" dirty="0">
                <a:latin typeface="Arial" panose="020B0604020202020204" pitchFamily="34" charset="0"/>
                <a:cs typeface="Arial" panose="020B0604020202020204" pitchFamily="34" charset="0"/>
              </a:rPr>
              <a:t> </a:t>
            </a:r>
            <a:r>
              <a:rPr lang="en-US" sz="3400" b="1" dirty="0" err="1">
                <a:latin typeface="Arial" panose="020B0604020202020204" pitchFamily="34" charset="0"/>
                <a:cs typeface="Arial" panose="020B0604020202020204" pitchFamily="34" charset="0"/>
              </a:rPr>
              <a:t>thống</a:t>
            </a:r>
            <a:endParaRPr lang="en-US" sz="3400" b="1" dirty="0">
              <a:latin typeface="Arial" panose="020B0604020202020204" pitchFamily="34" charset="0"/>
              <a:cs typeface="Arial" panose="020B0604020202020204" pitchFamily="34" charset="0"/>
            </a:endParaRPr>
          </a:p>
        </p:txBody>
      </p:sp>
      <p:grpSp>
        <p:nvGrpSpPr>
          <p:cNvPr id="9" name="Group 8"/>
          <p:cNvGrpSpPr/>
          <p:nvPr/>
        </p:nvGrpSpPr>
        <p:grpSpPr>
          <a:xfrm>
            <a:off x="5062451" y="723207"/>
            <a:ext cx="6350924" cy="6043353"/>
            <a:chOff x="5062451" y="723207"/>
            <a:chExt cx="6350924" cy="6043353"/>
          </a:xfrm>
        </p:grpSpPr>
        <p:grpSp>
          <p:nvGrpSpPr>
            <p:cNvPr id="7" name="Group 6"/>
            <p:cNvGrpSpPr/>
            <p:nvPr/>
          </p:nvGrpSpPr>
          <p:grpSpPr>
            <a:xfrm>
              <a:off x="5062451" y="723207"/>
              <a:ext cx="6350924" cy="6043353"/>
              <a:chOff x="5752407" y="723207"/>
              <a:chExt cx="6350924" cy="6043353"/>
            </a:xfrm>
          </p:grpSpPr>
          <p:sp>
            <p:nvSpPr>
              <p:cNvPr id="6" name="Rectangle 5"/>
              <p:cNvSpPr/>
              <p:nvPr/>
            </p:nvSpPr>
            <p:spPr>
              <a:xfrm>
                <a:off x="5752407" y="723207"/>
                <a:ext cx="6350924" cy="60433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7916" y="767533"/>
                <a:ext cx="4559906" cy="5954700"/>
              </a:xfrm>
              <a:prstGeom prst="rect">
                <a:avLst/>
              </a:prstGeom>
            </p:spPr>
          </p:pic>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960" y="767532"/>
              <a:ext cx="4559906" cy="5954701"/>
            </a:xfrm>
            <a:prstGeom prst="rect">
              <a:avLst/>
            </a:prstGeom>
          </p:spPr>
        </p:pic>
      </p:grpSp>
    </p:spTree>
    <p:extLst>
      <p:ext uri="{BB962C8B-B14F-4D97-AF65-F5344CB8AC3E}">
        <p14:creationId xmlns:p14="http://schemas.microsoft.com/office/powerpoint/2010/main" val="21012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0"/>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480291" y="598517"/>
            <a:ext cx="11231418" cy="61763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462" y="677108"/>
            <a:ext cx="9363075" cy="5311832"/>
          </a:xfrm>
          <a:prstGeom prst="rect">
            <a:avLst/>
          </a:prstGeom>
        </p:spPr>
      </p:pic>
      <p:sp>
        <p:nvSpPr>
          <p:cNvPr id="4" name="TextBox 3"/>
          <p:cNvSpPr txBox="1"/>
          <p:nvPr/>
        </p:nvSpPr>
        <p:spPr>
          <a:xfrm>
            <a:off x="1987061" y="5988940"/>
            <a:ext cx="2488182" cy="707886"/>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Usecase</a:t>
            </a:r>
            <a:r>
              <a:rPr lang="en-US" sz="2000" b="1" dirty="0">
                <a:latin typeface="Arial" panose="020B0604020202020204" pitchFamily="34" charset="0"/>
                <a:cs typeface="Arial" panose="020B0604020202020204" pitchFamily="34" charset="0"/>
              </a:rPr>
              <a:t> diagram </a:t>
            </a:r>
          </a:p>
          <a:p>
            <a:pPr algn="ctr"/>
            <a:r>
              <a:rPr lang="en-US" sz="2000" b="1" dirty="0" err="1">
                <a:latin typeface="Arial" panose="020B0604020202020204" pitchFamily="34" charset="0"/>
                <a:cs typeface="Arial" panose="020B0604020202020204" pitchFamily="34" charset="0"/>
              </a:rPr>
              <a:t>cho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người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tìm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endParaRPr lang="en-US" sz="2000" b="1" dirty="0">
              <a:latin typeface="Arial" panose="020B0604020202020204" pitchFamily="34" charset="0"/>
              <a:cs typeface="Arial" panose="020B0604020202020204" pitchFamily="34" charset="0"/>
            </a:endParaRPr>
          </a:p>
        </p:txBody>
      </p:sp>
      <p:sp>
        <p:nvSpPr>
          <p:cNvPr id="6" name="TextBox 5"/>
          <p:cNvSpPr txBox="1"/>
          <p:nvPr/>
        </p:nvSpPr>
        <p:spPr>
          <a:xfrm>
            <a:off x="7536024" y="5981319"/>
            <a:ext cx="2622834" cy="707886"/>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Usecase</a:t>
            </a:r>
            <a:r>
              <a:rPr lang="en-US" sz="2000" b="1" dirty="0">
                <a:latin typeface="Arial" panose="020B0604020202020204" pitchFamily="34" charset="0"/>
                <a:cs typeface="Arial" panose="020B0604020202020204" pitchFamily="34" charset="0"/>
              </a:rPr>
              <a:t> diagram </a:t>
            </a:r>
          </a:p>
          <a:p>
            <a:pPr algn="ctr"/>
            <a:r>
              <a:rPr lang="en-US" sz="2000" b="1" dirty="0" err="1">
                <a:latin typeface="Arial" panose="020B0604020202020204" pitchFamily="34" charset="0"/>
                <a:cs typeface="Arial" panose="020B0604020202020204" pitchFamily="34" charset="0"/>
              </a:rPr>
              <a:t>cho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903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9136" y="0"/>
            <a:ext cx="6190354" cy="677108"/>
          </a:xfrm>
          <a:prstGeom prst="rect">
            <a:avLst/>
          </a:prstGeom>
          <a:noFill/>
        </p:spPr>
        <p:txBody>
          <a:bodyPr wrap="square" rtlCol="0">
            <a:spAutoFit/>
          </a:bodyPr>
          <a:lstStyle/>
          <a:p>
            <a:r>
              <a:rPr lang="en-US" sz="3800" b="1" dirty="0">
                <a:solidFill>
                  <a:srgbClr val="FF0000"/>
                </a:solidFill>
              </a:rPr>
              <a:t>	3. PHÂN TÍCH HỆ THỐNG</a:t>
            </a:r>
          </a:p>
        </p:txBody>
      </p:sp>
      <p:pic>
        <p:nvPicPr>
          <p:cNvPr id="3" name="Picture 2"/>
          <p:cNvPicPr>
            <a:picLocks noChangeAspect="1"/>
          </p:cNvPicPr>
          <p:nvPr/>
        </p:nvPicPr>
        <p:blipFill>
          <a:blip r:embed="rId2"/>
          <a:stretch>
            <a:fillRect/>
          </a:stretch>
        </p:blipFill>
        <p:spPr>
          <a:xfrm>
            <a:off x="174775" y="568993"/>
            <a:ext cx="3857987" cy="6228302"/>
          </a:xfrm>
          <a:prstGeom prst="rect">
            <a:avLst/>
          </a:prstGeom>
        </p:spPr>
      </p:pic>
      <p:pic>
        <p:nvPicPr>
          <p:cNvPr id="4" name="Picture 3"/>
          <p:cNvPicPr>
            <a:picLocks noChangeAspect="1"/>
          </p:cNvPicPr>
          <p:nvPr/>
        </p:nvPicPr>
        <p:blipFill>
          <a:blip r:embed="rId3"/>
          <a:stretch>
            <a:fillRect/>
          </a:stretch>
        </p:blipFill>
        <p:spPr>
          <a:xfrm>
            <a:off x="4175319" y="569516"/>
            <a:ext cx="3857987" cy="6227255"/>
          </a:xfrm>
          <a:prstGeom prst="rect">
            <a:avLst/>
          </a:prstGeom>
        </p:spPr>
      </p:pic>
      <p:pic>
        <p:nvPicPr>
          <p:cNvPr id="6" name="Picture 5"/>
          <p:cNvPicPr>
            <a:picLocks noChangeAspect="1"/>
          </p:cNvPicPr>
          <p:nvPr/>
        </p:nvPicPr>
        <p:blipFill>
          <a:blip r:embed="rId4"/>
          <a:stretch>
            <a:fillRect/>
          </a:stretch>
        </p:blipFill>
        <p:spPr>
          <a:xfrm>
            <a:off x="8175864" y="568993"/>
            <a:ext cx="3857987" cy="1450831"/>
          </a:xfrm>
          <a:prstGeom prst="rect">
            <a:avLst/>
          </a:prstGeom>
        </p:spPr>
      </p:pic>
      <p:sp>
        <p:nvSpPr>
          <p:cNvPr id="2" name="TextBox 1"/>
          <p:cNvSpPr txBox="1"/>
          <p:nvPr/>
        </p:nvSpPr>
        <p:spPr>
          <a:xfrm>
            <a:off x="8805504" y="2194560"/>
            <a:ext cx="2818400" cy="1015663"/>
          </a:xfrm>
          <a:prstGeom prst="rect">
            <a:avLst/>
          </a:prstGeom>
          <a:noFill/>
        </p:spPr>
        <p:txBody>
          <a:bodyPr wrap="none" rtlCol="0">
            <a:spAutoFit/>
          </a:bodyPr>
          <a:lstStyle/>
          <a:p>
            <a:pPr algn="ctr"/>
            <a:r>
              <a:rPr lang="en-US" sz="2000" dirty="0" err="1">
                <a:latin typeface="Arial" panose="020B0604020202020204" pitchFamily="34" charset="0"/>
                <a:cs typeface="Arial" panose="020B0604020202020204" pitchFamily="34" charset="0"/>
              </a:rPr>
              <a:t>Bảng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usecase</a:t>
            </a:r>
            <a:r>
              <a:rPr lang="en-US" sz="2000" dirty="0">
                <a:latin typeface="Arial" panose="020B0604020202020204" pitchFamily="34" charset="0"/>
                <a:cs typeface="Arial" panose="020B0604020202020204" pitchFamily="34" charset="0"/>
              </a:rPr>
              <a:t>:</a:t>
            </a:r>
          </a:p>
          <a:p>
            <a:pPr algn="ctr"/>
            <a:r>
              <a:rPr lang="en-US" sz="2000" dirty="0" err="1">
                <a:latin typeface="Arial" panose="020B0604020202020204" pitchFamily="34" charset="0"/>
                <a:cs typeface="Arial" panose="020B0604020202020204" pitchFamily="34" charset="0"/>
              </a:rPr>
              <a:t>Quản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tin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p>
          <a:p>
            <a:pPr algn="ct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Nhà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8126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18834" y="0"/>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191193" y="789709"/>
            <a:ext cx="11845636" cy="59602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486" y="1859031"/>
            <a:ext cx="4736610" cy="407877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0388" y="1855835"/>
            <a:ext cx="4736610" cy="4081974"/>
          </a:xfrm>
          <a:prstGeom prst="rect">
            <a:avLst/>
          </a:prstGeom>
        </p:spPr>
      </p:pic>
      <p:sp>
        <p:nvSpPr>
          <p:cNvPr id="6" name="TextBox 5"/>
          <p:cNvSpPr txBox="1"/>
          <p:nvPr/>
        </p:nvSpPr>
        <p:spPr>
          <a:xfrm>
            <a:off x="2785215" y="1043709"/>
            <a:ext cx="7515199"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Activity Diagram (</a:t>
            </a:r>
            <a:r>
              <a:rPr lang="en-US" sz="2000" b="1" dirty="0" err="1">
                <a:latin typeface="Arial" panose="020B0604020202020204" pitchFamily="34" charset="0"/>
                <a:cs typeface="Arial" panose="020B0604020202020204" pitchFamily="34" charset="0"/>
              </a:rPr>
              <a:t>Xem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hồ</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viên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đăng</a:t>
            </a:r>
            <a:r>
              <a:rPr lang="en-US" sz="2000" b="1" dirty="0">
                <a:latin typeface="Arial" panose="020B0604020202020204" pitchFamily="34" charset="0"/>
                <a:cs typeface="Arial" panose="020B0604020202020204" pitchFamily="34" charset="0"/>
              </a:rPr>
              <a:t> tin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sp>
        <p:nvSpPr>
          <p:cNvPr id="7" name="TextBox 6"/>
          <p:cNvSpPr txBox="1"/>
          <p:nvPr/>
        </p:nvSpPr>
        <p:spPr>
          <a:xfrm>
            <a:off x="2239903" y="5981137"/>
            <a:ext cx="2271776" cy="646331"/>
          </a:xfrm>
          <a:prstGeom prst="rect">
            <a:avLst/>
          </a:prstGeom>
          <a:noFill/>
        </p:spPr>
        <p:txBody>
          <a:bodyPr wrap="none" rtlCol="0">
            <a:spAutoFit/>
          </a:bodyPr>
          <a:lstStyle/>
          <a:p>
            <a:pPr algn="ct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hồ</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a:t>
            </a:r>
          </a:p>
        </p:txBody>
      </p:sp>
      <p:sp>
        <p:nvSpPr>
          <p:cNvPr id="8" name="TextBox 7"/>
          <p:cNvSpPr txBox="1"/>
          <p:nvPr/>
        </p:nvSpPr>
        <p:spPr>
          <a:xfrm>
            <a:off x="7804027" y="6020706"/>
            <a:ext cx="2249334" cy="646331"/>
          </a:xfrm>
          <a:prstGeom prst="rect">
            <a:avLst/>
          </a:prstGeom>
          <a:noFill/>
        </p:spPr>
        <p:txBody>
          <a:bodyPr wrap="none" rtlCol="0">
            <a:spAutoFit/>
          </a:bodyPr>
          <a:lstStyle/>
          <a:p>
            <a:pPr algn="ct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0388" y="1899164"/>
            <a:ext cx="4736610" cy="4081973"/>
          </a:xfrm>
          <a:prstGeom prst="rect">
            <a:avLst/>
          </a:prstGeom>
        </p:spPr>
      </p:pic>
    </p:spTree>
    <p:extLst>
      <p:ext uri="{BB962C8B-B14F-4D97-AF65-F5344CB8AC3E}">
        <p14:creationId xmlns:p14="http://schemas.microsoft.com/office/powerpoint/2010/main" val="139588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18834" y="0"/>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191193" y="789709"/>
            <a:ext cx="11845636" cy="59602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3650835" y="987928"/>
            <a:ext cx="4068743"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Activity Diagram (</a:t>
            </a:r>
            <a:r>
              <a:rPr lang="en-US" sz="2000" b="1" dirty="0" err="1">
                <a:latin typeface="Arial" panose="020B0604020202020204" pitchFamily="34" charset="0"/>
                <a:cs typeface="Arial" panose="020B0604020202020204" pitchFamily="34" charset="0"/>
              </a:rPr>
              <a:t>Xem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làm</a:t>
            </a:r>
            <a:r>
              <a:rPr lang="en-US" sz="2000" b="1" dirty="0">
                <a:latin typeface="Arial" panose="020B0604020202020204" pitchFamily="34" charset="0"/>
                <a:cs typeface="Arial" panose="020B0604020202020204" pitchFamily="34" charset="0"/>
              </a:rPr>
              <a:t>)</a:t>
            </a:r>
          </a:p>
        </p:txBody>
      </p:sp>
      <p:sp>
        <p:nvSpPr>
          <p:cNvPr id="7" name="TextBox 6"/>
          <p:cNvSpPr txBox="1"/>
          <p:nvPr/>
        </p:nvSpPr>
        <p:spPr>
          <a:xfrm>
            <a:off x="5189717" y="6034964"/>
            <a:ext cx="1848584" cy="646331"/>
          </a:xfrm>
          <a:prstGeom prst="rect">
            <a:avLst/>
          </a:prstGeom>
          <a:noFill/>
        </p:spPr>
        <p:txBody>
          <a:bodyPr wrap="none" rtlCol="0">
            <a:spAutoFit/>
          </a:bodyPr>
          <a:lstStyle/>
          <a:p>
            <a:pPr algn="ct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làm</a:t>
            </a:r>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0531" y="1586257"/>
            <a:ext cx="4506959" cy="433858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5704" y="1586257"/>
            <a:ext cx="4736610" cy="4338580"/>
          </a:xfrm>
          <a:prstGeom prst="rect">
            <a:avLst/>
          </a:prstGeom>
        </p:spPr>
      </p:pic>
    </p:spTree>
    <p:extLst>
      <p:ext uri="{BB962C8B-B14F-4D97-AF65-F5344CB8AC3E}">
        <p14:creationId xmlns:p14="http://schemas.microsoft.com/office/powerpoint/2010/main" val="356869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535" y="2176393"/>
            <a:ext cx="4975448" cy="39584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2226" y="1119755"/>
            <a:ext cx="4977162" cy="5260415"/>
          </a:xfrm>
          <a:prstGeom prst="rect">
            <a:avLst/>
          </a:prstGeom>
        </p:spPr>
      </p:pic>
      <p:sp>
        <p:nvSpPr>
          <p:cNvPr id="6" name="TextBox 5"/>
          <p:cNvSpPr txBox="1"/>
          <p:nvPr/>
        </p:nvSpPr>
        <p:spPr>
          <a:xfrm>
            <a:off x="933965" y="1145448"/>
            <a:ext cx="5054589"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Sequence diagram </a:t>
            </a:r>
          </a:p>
          <a:p>
            <a:pPr algn="ctr"/>
            <a:r>
              <a:rPr lang="en-US" sz="2000" b="1" dirty="0">
                <a:latin typeface="Arial" panose="020B0604020202020204" pitchFamily="34" charset="0"/>
                <a:cs typeface="Arial" panose="020B0604020202020204" pitchFamily="34" charset="0"/>
              </a:rPr>
              <a:t>(</a:t>
            </a:r>
            <a:r>
              <a:rPr lang="en-US" sz="2000" b="1" dirty="0" err="1">
                <a:latin typeface="Arial" panose="020B0604020202020204" pitchFamily="34" charset="0"/>
                <a:cs typeface="Arial" panose="020B0604020202020204" pitchFamily="34" charset="0"/>
              </a:rPr>
              <a:t>Xem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hồ</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viên</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49141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5848" y="1153291"/>
            <a:ext cx="4014487" cy="5193344"/>
          </a:xfrm>
          <a:prstGeom prst="rect">
            <a:avLst/>
          </a:prstGeom>
        </p:spPr>
      </p:pic>
      <p:sp>
        <p:nvSpPr>
          <p:cNvPr id="6" name="TextBox 5"/>
          <p:cNvSpPr txBox="1"/>
          <p:nvPr/>
        </p:nvSpPr>
        <p:spPr>
          <a:xfrm>
            <a:off x="679172" y="3240255"/>
            <a:ext cx="5057796"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Sequence diagram </a:t>
            </a:r>
          </a:p>
          <a:p>
            <a:pPr algn="ctr"/>
            <a:r>
              <a:rPr lang="en-US" sz="2000" b="1" dirty="0">
                <a:latin typeface="Arial" panose="020B0604020202020204" pitchFamily="34" charset="0"/>
                <a:cs typeface="Arial" panose="020B0604020202020204" pitchFamily="34" charset="0"/>
              </a:rPr>
              <a:t>(</a:t>
            </a:r>
            <a:r>
              <a:rPr lang="en-US" sz="2000" b="1" dirty="0" err="1">
                <a:latin typeface="Arial" panose="020B0604020202020204" pitchFamily="34" charset="0"/>
                <a:cs typeface="Arial" panose="020B0604020202020204" pitchFamily="34" charset="0"/>
              </a:rPr>
              <a:t>Đăng</a:t>
            </a:r>
            <a:r>
              <a:rPr lang="en-US" sz="2000" b="1" dirty="0">
                <a:latin typeface="Arial" panose="020B0604020202020204" pitchFamily="34" charset="0"/>
                <a:cs typeface="Arial" panose="020B0604020202020204" pitchFamily="34" charset="0"/>
              </a:rPr>
              <a:t> tin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63537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3. PHÂN TÍCH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5848" y="1153291"/>
            <a:ext cx="4014487" cy="5193344"/>
          </a:xfrm>
          <a:prstGeom prst="rect">
            <a:avLst/>
          </a:prstGeom>
        </p:spPr>
      </p:pic>
      <p:sp>
        <p:nvSpPr>
          <p:cNvPr id="6" name="TextBox 5"/>
          <p:cNvSpPr txBox="1"/>
          <p:nvPr/>
        </p:nvSpPr>
        <p:spPr>
          <a:xfrm>
            <a:off x="1175308" y="3240255"/>
            <a:ext cx="4065537"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Sequence diagram </a:t>
            </a:r>
          </a:p>
          <a:p>
            <a:pPr algn="ctr"/>
            <a:r>
              <a:rPr lang="en-US" sz="2000" b="1" dirty="0">
                <a:latin typeface="Arial" panose="020B0604020202020204" pitchFamily="34" charset="0"/>
                <a:cs typeface="Arial" panose="020B0604020202020204" pitchFamily="34" charset="0"/>
              </a:rPr>
              <a:t>(</a:t>
            </a:r>
            <a:r>
              <a:rPr lang="en-US" sz="2000" b="1" dirty="0" err="1">
                <a:latin typeface="Arial" panose="020B0604020202020204" pitchFamily="34" charset="0"/>
                <a:cs typeface="Arial" panose="020B0604020202020204" pitchFamily="34" charset="0"/>
              </a:rPr>
              <a:t>Xem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làm</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Người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tìm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5848" y="1153291"/>
            <a:ext cx="4697899" cy="5193344"/>
          </a:xfrm>
          <a:prstGeom prst="rect">
            <a:avLst/>
          </a:prstGeom>
        </p:spPr>
      </p:pic>
    </p:spTree>
    <p:extLst>
      <p:ext uri="{BB962C8B-B14F-4D97-AF65-F5344CB8AC3E}">
        <p14:creationId xmlns:p14="http://schemas.microsoft.com/office/powerpoint/2010/main" val="1570016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4. THIẾT KẾ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632" y="1956923"/>
            <a:ext cx="5410735" cy="4201595"/>
          </a:xfrm>
          <a:prstGeom prst="rect">
            <a:avLst/>
          </a:prstGeom>
        </p:spPr>
      </p:pic>
      <p:sp>
        <p:nvSpPr>
          <p:cNvPr id="6" name="TextBox 5"/>
          <p:cNvSpPr txBox="1"/>
          <p:nvPr/>
        </p:nvSpPr>
        <p:spPr>
          <a:xfrm>
            <a:off x="4871149" y="1196354"/>
            <a:ext cx="2449710"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Kiến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trúc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hệ</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thống</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2530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56258"/>
            <a:ext cx="6190354" cy="677108"/>
          </a:xfrm>
          <a:prstGeom prst="rect">
            <a:avLst/>
          </a:prstGeom>
          <a:noFill/>
        </p:spPr>
        <p:txBody>
          <a:bodyPr wrap="square" rtlCol="0">
            <a:spAutoFit/>
          </a:bodyPr>
          <a:lstStyle/>
          <a:p>
            <a:r>
              <a:rPr lang="en-US" sz="3800" b="1" dirty="0">
                <a:solidFill>
                  <a:srgbClr val="FF0000"/>
                </a:solidFill>
              </a:rPr>
              <a:t>	4. THIẾT KẾ HỆ THỐNG</a:t>
            </a:r>
          </a:p>
        </p:txBody>
      </p:sp>
      <p:sp>
        <p:nvSpPr>
          <p:cNvPr id="2" name="Rectangle 1"/>
          <p:cNvSpPr/>
          <p:nvPr/>
        </p:nvSpPr>
        <p:spPr>
          <a:xfrm>
            <a:off x="480291" y="665019"/>
            <a:ext cx="11231418" cy="6101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5542" y="1412905"/>
            <a:ext cx="8240916" cy="5289258"/>
          </a:xfrm>
          <a:prstGeom prst="rect">
            <a:avLst/>
          </a:prstGeom>
        </p:spPr>
      </p:pic>
      <p:sp>
        <p:nvSpPr>
          <p:cNvPr id="4" name="TextBox 3"/>
          <p:cNvSpPr txBox="1"/>
          <p:nvPr/>
        </p:nvSpPr>
        <p:spPr>
          <a:xfrm>
            <a:off x="4244371" y="838907"/>
            <a:ext cx="3703258"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Class diagram </a:t>
            </a:r>
            <a:r>
              <a:rPr lang="en-US" sz="2000" b="1" dirty="0" err="1">
                <a:latin typeface="Arial" panose="020B0604020202020204" pitchFamily="34" charset="0"/>
                <a:cs typeface="Arial" panose="020B0604020202020204" pitchFamily="34" charset="0"/>
              </a:rPr>
              <a:t>toàn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hệ</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thống</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230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0"/>
            <a:ext cx="6190354" cy="677108"/>
          </a:xfrm>
          <a:prstGeom prst="rect">
            <a:avLst/>
          </a:prstGeom>
          <a:noFill/>
        </p:spPr>
        <p:txBody>
          <a:bodyPr wrap="square" rtlCol="0">
            <a:spAutoFit/>
          </a:bodyPr>
          <a:lstStyle/>
          <a:p>
            <a:r>
              <a:rPr lang="en-US" sz="3800" b="1" dirty="0">
                <a:solidFill>
                  <a:srgbClr val="FF0000"/>
                </a:solidFill>
              </a:rPr>
              <a:t>	4. THIẾT KẾ HỆ THỐNG</a:t>
            </a:r>
          </a:p>
        </p:txBody>
      </p:sp>
      <p:sp>
        <p:nvSpPr>
          <p:cNvPr id="2" name="Rectangle 1"/>
          <p:cNvSpPr/>
          <p:nvPr/>
        </p:nvSpPr>
        <p:spPr>
          <a:xfrm>
            <a:off x="480291" y="606829"/>
            <a:ext cx="11231418" cy="61680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158886" y="606829"/>
            <a:ext cx="1874231"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sở</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dữ</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liệu</a:t>
            </a:r>
            <a:endParaRPr lang="en-US" sz="20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3746" y="1191558"/>
            <a:ext cx="9435555" cy="5491875"/>
          </a:xfrm>
          <a:prstGeom prst="rect">
            <a:avLst/>
          </a:prstGeom>
        </p:spPr>
      </p:pic>
      <p:sp>
        <p:nvSpPr>
          <p:cNvPr id="7" name="Oval 6"/>
          <p:cNvSpPr/>
          <p:nvPr/>
        </p:nvSpPr>
        <p:spPr>
          <a:xfrm>
            <a:off x="6091523" y="1463040"/>
            <a:ext cx="758164" cy="349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8253382" y="2428416"/>
            <a:ext cx="707738" cy="2981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316778" y="2402927"/>
            <a:ext cx="598517" cy="349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536276" y="4175760"/>
            <a:ext cx="615142" cy="349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000823" y="4175760"/>
            <a:ext cx="573650" cy="349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9518072" y="2428416"/>
            <a:ext cx="747329" cy="2981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768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243703"/>
            <a:ext cx="6190354" cy="677108"/>
          </a:xfrm>
          <a:prstGeom prst="rect">
            <a:avLst/>
          </a:prstGeom>
          <a:noFill/>
        </p:spPr>
        <p:txBody>
          <a:bodyPr wrap="square" rtlCol="0">
            <a:spAutoFit/>
          </a:bodyPr>
          <a:lstStyle/>
          <a:p>
            <a:r>
              <a:rPr lang="en-US" sz="3800" b="1" dirty="0">
                <a:solidFill>
                  <a:srgbClr val="FF0000"/>
                </a:solidFill>
              </a:rPr>
              <a:t>	4. THIẾT KẾ HỆ THỐNG</a:t>
            </a:r>
          </a:p>
        </p:txBody>
      </p:sp>
      <p:sp>
        <p:nvSpPr>
          <p:cNvPr id="2" name="Rectangle 1"/>
          <p:cNvSpPr/>
          <p:nvPr/>
        </p:nvSpPr>
        <p:spPr>
          <a:xfrm>
            <a:off x="480291" y="1043709"/>
            <a:ext cx="11231418" cy="54125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660" y="2103898"/>
            <a:ext cx="6924675" cy="3514725"/>
          </a:xfrm>
          <a:prstGeom prst="rect">
            <a:avLst/>
          </a:prstGeom>
        </p:spPr>
      </p:pic>
      <p:sp>
        <p:nvSpPr>
          <p:cNvPr id="7" name="TextBox 6"/>
          <p:cNvSpPr txBox="1"/>
          <p:nvPr/>
        </p:nvSpPr>
        <p:spPr>
          <a:xfrm>
            <a:off x="4204298" y="1156519"/>
            <a:ext cx="3783408"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sở</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dữ</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liệu</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Thực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thể</a:t>
            </a:r>
            <a:r>
              <a:rPr lang="en-US" sz="2000" b="1" dirty="0">
                <a:latin typeface="Arial" panose="020B0604020202020204" pitchFamily="34" charset="0"/>
                <a:cs typeface="Arial" panose="020B0604020202020204" pitchFamily="34" charset="0"/>
              </a:rPr>
              <a:t> Job</a:t>
            </a:r>
          </a:p>
        </p:txBody>
      </p:sp>
    </p:spTree>
    <p:extLst>
      <p:ext uri="{BB962C8B-B14F-4D97-AF65-F5344CB8AC3E}">
        <p14:creationId xmlns:p14="http://schemas.microsoft.com/office/powerpoint/2010/main" val="1431875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0"/>
            <a:ext cx="6190354" cy="677108"/>
          </a:xfrm>
          <a:prstGeom prst="rect">
            <a:avLst/>
          </a:prstGeom>
          <a:noFill/>
        </p:spPr>
        <p:txBody>
          <a:bodyPr wrap="square" rtlCol="0">
            <a:spAutoFit/>
          </a:bodyPr>
          <a:lstStyle/>
          <a:p>
            <a:r>
              <a:rPr lang="en-US" sz="3800" b="1" dirty="0">
                <a:solidFill>
                  <a:srgbClr val="FF0000"/>
                </a:solidFill>
              </a:rPr>
              <a:t>	4. THIẾT KẾ HỆ THỐNG</a:t>
            </a:r>
          </a:p>
        </p:txBody>
      </p:sp>
      <p:sp>
        <p:nvSpPr>
          <p:cNvPr id="2" name="Rectangle 1"/>
          <p:cNvSpPr/>
          <p:nvPr/>
        </p:nvSpPr>
        <p:spPr>
          <a:xfrm>
            <a:off x="480291" y="581891"/>
            <a:ext cx="11231418" cy="62012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52891" y="598056"/>
            <a:ext cx="4772460" cy="707886"/>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sở</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dữ</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liệu</a:t>
            </a:r>
            <a:endParaRPr lang="en-US" sz="2000" b="1" dirty="0">
              <a:latin typeface="Arial" panose="020B0604020202020204" pitchFamily="34" charset="0"/>
              <a:cs typeface="Arial" panose="020B0604020202020204" pitchFamily="34" charset="0"/>
            </a:endParaRPr>
          </a:p>
          <a:p>
            <a:pPr algn="ctr"/>
            <a:r>
              <a:rPr lang="en-US" sz="2000" b="1" dirty="0" err="1">
                <a:latin typeface="Arial" panose="020B0604020202020204" pitchFamily="34" charset="0"/>
                <a:cs typeface="Arial" panose="020B0604020202020204" pitchFamily="34" charset="0"/>
              </a:rPr>
              <a:t>Thực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thể</a:t>
            </a:r>
            <a:r>
              <a:rPr lang="en-US" sz="2000" b="1" dirty="0">
                <a:latin typeface="Arial" panose="020B0604020202020204" pitchFamily="34" charset="0"/>
                <a:cs typeface="Arial" panose="020B0604020202020204" pitchFamily="34" charset="0"/>
              </a:rPr>
              <a:t> Company – </a:t>
            </a:r>
            <a:r>
              <a:rPr lang="en-US" sz="2000" b="1" dirty="0" err="1">
                <a:latin typeface="Arial" panose="020B0604020202020204" pitchFamily="34" charset="0"/>
                <a:cs typeface="Arial" panose="020B0604020202020204" pitchFamily="34" charset="0"/>
              </a:rPr>
              <a:t>Thực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thể</a:t>
            </a:r>
            <a:r>
              <a:rPr lang="en-US" sz="2000" b="1" dirty="0">
                <a:latin typeface="Arial" panose="020B0604020202020204" pitchFamily="34" charset="0"/>
                <a:cs typeface="Arial" panose="020B0604020202020204" pitchFamily="34" charset="0"/>
              </a:rPr>
              <a:t> Profile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080" y="1556629"/>
            <a:ext cx="3781425" cy="467677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938" y="677108"/>
            <a:ext cx="4410430" cy="5995428"/>
          </a:xfrm>
          <a:prstGeom prst="rect">
            <a:avLst/>
          </a:prstGeom>
        </p:spPr>
      </p:pic>
    </p:spTree>
    <p:extLst>
      <p:ext uri="{BB962C8B-B14F-4D97-AF65-F5344CB8AC3E}">
        <p14:creationId xmlns:p14="http://schemas.microsoft.com/office/powerpoint/2010/main" val="3580863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r>
              <a:rPr lang="en-US" sz="3800" b="1" dirty="0">
                <a:solidFill>
                  <a:srgbClr val="FF0000"/>
                </a:solidFill>
              </a:rPr>
              <a:t>	5. HIỆN THỰC HỆ THỐNG</a:t>
            </a:r>
          </a:p>
        </p:txBody>
      </p:sp>
      <p:sp>
        <p:nvSpPr>
          <p:cNvPr id="2" name="Rectangle 1"/>
          <p:cNvSpPr/>
          <p:nvPr/>
        </p:nvSpPr>
        <p:spPr>
          <a:xfrm>
            <a:off x="480291" y="822961"/>
            <a:ext cx="11231418" cy="56332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02749" y="1023515"/>
            <a:ext cx="4586512"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Sơ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đồ</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nghệ</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cho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toàn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hệ</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thống</a:t>
            </a:r>
            <a:endParaRPr lang="en-US" sz="2000" b="1"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0056" y="2157239"/>
            <a:ext cx="6200775" cy="2676525"/>
          </a:xfrm>
          <a:prstGeom prst="rect">
            <a:avLst/>
          </a:prstGeom>
        </p:spPr>
      </p:pic>
    </p:spTree>
    <p:extLst>
      <p:ext uri="{BB962C8B-B14F-4D97-AF65-F5344CB8AC3E}">
        <p14:creationId xmlns:p14="http://schemas.microsoft.com/office/powerpoint/2010/main" val="4273721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r>
              <a:rPr lang="en-US" sz="3800" b="1" dirty="0">
                <a:solidFill>
                  <a:srgbClr val="FF0000"/>
                </a:solidFill>
              </a:rPr>
              <a:t>	5. HIỆN THỰC HỆ THỐNG</a:t>
            </a:r>
          </a:p>
        </p:txBody>
      </p:sp>
      <p:sp>
        <p:nvSpPr>
          <p:cNvPr id="7" name="TextBox 6"/>
          <p:cNvSpPr txBox="1"/>
          <p:nvPr/>
        </p:nvSpPr>
        <p:spPr>
          <a:xfrm>
            <a:off x="984650" y="3073988"/>
            <a:ext cx="1411220"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Trang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chủ</a:t>
            </a:r>
            <a:endParaRPr lang="en-US" sz="20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6416" y="884117"/>
            <a:ext cx="2743200" cy="574396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60451" y="884117"/>
            <a:ext cx="2743200" cy="5743965"/>
          </a:xfrm>
          <a:prstGeom prst="rect">
            <a:avLst/>
          </a:prstGeom>
        </p:spPr>
      </p:pic>
    </p:spTree>
    <p:extLst>
      <p:ext uri="{BB962C8B-B14F-4D97-AF65-F5344CB8AC3E}">
        <p14:creationId xmlns:p14="http://schemas.microsoft.com/office/powerpoint/2010/main" val="4026784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426968" y="3387322"/>
            <a:ext cx="2563522"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Danh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sách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làm</a:t>
            </a:r>
            <a:endParaRPr lang="en-US" sz="20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86902" y="915449"/>
            <a:ext cx="2743200" cy="5743965"/>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70978" y="915449"/>
            <a:ext cx="2743200" cy="5743965"/>
          </a:xfrm>
          <a:prstGeom prst="rect">
            <a:avLst/>
          </a:prstGeom>
        </p:spPr>
      </p:pic>
    </p:spTree>
    <p:extLst>
      <p:ext uri="{BB962C8B-B14F-4D97-AF65-F5344CB8AC3E}">
        <p14:creationId xmlns:p14="http://schemas.microsoft.com/office/powerpoint/2010/main" val="2196407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5029843" y="653358"/>
            <a:ext cx="2132315" cy="400110"/>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Chi </a:t>
            </a:r>
            <a:r>
              <a:rPr lang="en-US" sz="2000" b="1" dirty="0" err="1">
                <a:latin typeface="Arial" panose="020B0604020202020204" pitchFamily="34" charset="0"/>
                <a:cs typeface="Arial" panose="020B0604020202020204" pitchFamily="34" charset="0"/>
              </a:rPr>
              <a:t>tiết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làm</a:t>
            </a:r>
            <a:endParaRPr lang="en-US" sz="2000" b="1" dirty="0">
              <a:latin typeface="Arial" panose="020B0604020202020204" pitchFamily="34" charset="0"/>
              <a:cs typeface="Arial" panose="020B0604020202020204" pitchFamily="34" charset="0"/>
            </a:endParaRPr>
          </a:p>
        </p:txBody>
      </p:sp>
      <p:grpSp>
        <p:nvGrpSpPr>
          <p:cNvPr id="9" name="Group 8"/>
          <p:cNvGrpSpPr/>
          <p:nvPr/>
        </p:nvGrpSpPr>
        <p:grpSpPr>
          <a:xfrm>
            <a:off x="375195" y="1053468"/>
            <a:ext cx="11441610" cy="5743966"/>
            <a:chOff x="724306" y="761559"/>
            <a:chExt cx="11441610" cy="5743966"/>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22716" y="761559"/>
              <a:ext cx="2743200" cy="5743965"/>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3246" y="761559"/>
              <a:ext cx="2743200" cy="5743965"/>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3776" y="761559"/>
              <a:ext cx="2743200" cy="5743965"/>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306" y="761560"/>
              <a:ext cx="2743200" cy="5743965"/>
            </a:xfrm>
            <a:prstGeom prst="rect">
              <a:avLst/>
            </a:prstGeom>
          </p:spPr>
        </p:pic>
      </p:grpSp>
    </p:spTree>
    <p:extLst>
      <p:ext uri="{BB962C8B-B14F-4D97-AF65-F5344CB8AC3E}">
        <p14:creationId xmlns:p14="http://schemas.microsoft.com/office/powerpoint/2010/main" val="1861245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475859" y="3387322"/>
            <a:ext cx="2465740"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Danh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sách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ty</a:t>
            </a:r>
          </a:p>
        </p:txBody>
      </p:sp>
      <p:pic>
        <p:nvPicPr>
          <p:cNvPr id="2" name="Pictur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486902" y="915450"/>
            <a:ext cx="2743200" cy="5743962"/>
          </a:xfrm>
          <a:prstGeom prst="rect">
            <a:avLst/>
          </a:prstGeom>
        </p:spPr>
      </p:pic>
      <p:pic>
        <p:nvPicPr>
          <p:cNvPr id="11" name="Picture 10"/>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70978" y="915450"/>
            <a:ext cx="2743200" cy="5743962"/>
          </a:xfrm>
          <a:prstGeom prst="rect">
            <a:avLst/>
          </a:prstGeom>
        </p:spPr>
      </p:pic>
    </p:spTree>
    <p:extLst>
      <p:ext uri="{BB962C8B-B14F-4D97-AF65-F5344CB8AC3E}">
        <p14:creationId xmlns:p14="http://schemas.microsoft.com/office/powerpoint/2010/main" val="4075095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4928056" y="653358"/>
            <a:ext cx="2335896"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Thông</a:t>
            </a:r>
            <a:r>
              <a:rPr lang="en-US" sz="2000" b="1" dirty="0">
                <a:latin typeface="Arial" panose="020B0604020202020204" pitchFamily="34" charset="0"/>
                <a:cs typeface="Arial" panose="020B0604020202020204" pitchFamily="34" charset="0"/>
              </a:rPr>
              <a:t> tin </a:t>
            </a: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ty</a:t>
            </a:r>
          </a:p>
        </p:txBody>
      </p:sp>
      <p:grpSp>
        <p:nvGrpSpPr>
          <p:cNvPr id="9" name="Group 8"/>
          <p:cNvGrpSpPr/>
          <p:nvPr/>
        </p:nvGrpSpPr>
        <p:grpSpPr>
          <a:xfrm>
            <a:off x="1824930" y="1053469"/>
            <a:ext cx="8542140" cy="5743963"/>
            <a:chOff x="724306" y="761560"/>
            <a:chExt cx="8542140" cy="5743963"/>
          </a:xfrm>
        </p:grpSpPr>
        <p:pic>
          <p:nvPicPr>
            <p:cNvPr id="4" name="Picture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523246" y="761560"/>
              <a:ext cx="2743200" cy="5743962"/>
            </a:xfrm>
            <a:prstGeom prst="rect">
              <a:avLst/>
            </a:prstGeom>
          </p:spPr>
        </p:pic>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23776" y="761560"/>
              <a:ext cx="2743200" cy="5743962"/>
            </a:xfrm>
            <a:prstGeom prst="rect">
              <a:avLst/>
            </a:prstGeom>
          </p:spPr>
        </p:pic>
        <p:pic>
          <p:nvPicPr>
            <p:cNvPr id="8" name="Picture 7"/>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24306" y="761561"/>
              <a:ext cx="2743200" cy="5743962"/>
            </a:xfrm>
            <a:prstGeom prst="rect">
              <a:avLst/>
            </a:prstGeom>
          </p:spPr>
        </p:pic>
      </p:grpSp>
    </p:spTree>
    <p:extLst>
      <p:ext uri="{BB962C8B-B14F-4D97-AF65-F5344CB8AC3E}">
        <p14:creationId xmlns:p14="http://schemas.microsoft.com/office/powerpoint/2010/main" val="92121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4091289" y="653358"/>
            <a:ext cx="4009432"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Hồ</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nhân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Người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tìm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a:t>
            </a:r>
          </a:p>
        </p:txBody>
      </p:sp>
      <p:grpSp>
        <p:nvGrpSpPr>
          <p:cNvPr id="9" name="Group 8"/>
          <p:cNvGrpSpPr/>
          <p:nvPr/>
        </p:nvGrpSpPr>
        <p:grpSpPr>
          <a:xfrm>
            <a:off x="375195" y="1053469"/>
            <a:ext cx="11441610" cy="5743963"/>
            <a:chOff x="724306" y="761560"/>
            <a:chExt cx="11441610" cy="5743963"/>
          </a:xfrm>
        </p:grpSpPr>
        <p:pic>
          <p:nvPicPr>
            <p:cNvPr id="3" name="Picture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422716" y="761560"/>
              <a:ext cx="2743200" cy="5743962"/>
            </a:xfrm>
            <a:prstGeom prst="rect">
              <a:avLst/>
            </a:prstGeom>
          </p:spPr>
        </p:pic>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523246" y="761560"/>
              <a:ext cx="2743200" cy="5743962"/>
            </a:xfrm>
            <a:prstGeom prst="rect">
              <a:avLst/>
            </a:prstGeom>
          </p:spPr>
        </p:pic>
        <p:pic>
          <p:nvPicPr>
            <p:cNvPr id="6" name="Picture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623776" y="761560"/>
              <a:ext cx="2743200" cy="5743962"/>
            </a:xfrm>
            <a:prstGeom prst="rect">
              <a:avLst/>
            </a:prstGeom>
          </p:spPr>
        </p:pic>
        <p:pic>
          <p:nvPicPr>
            <p:cNvPr id="8" name="Picture 7"/>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24306" y="761561"/>
              <a:ext cx="2743200" cy="5743962"/>
            </a:xfrm>
            <a:prstGeom prst="rect">
              <a:avLst/>
            </a:prstGeom>
          </p:spPr>
        </p:pic>
      </p:grpSp>
    </p:spTree>
    <p:extLst>
      <p:ext uri="{BB962C8B-B14F-4D97-AF65-F5344CB8AC3E}">
        <p14:creationId xmlns:p14="http://schemas.microsoft.com/office/powerpoint/2010/main" val="136272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2103581" y="653358"/>
            <a:ext cx="7984878"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đã</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đã</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lưu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ty </a:t>
            </a:r>
            <a:r>
              <a:rPr lang="en-US" sz="2000" b="1" dirty="0" err="1">
                <a:latin typeface="Arial" panose="020B0604020202020204" pitchFamily="34" charset="0"/>
                <a:cs typeface="Arial" panose="020B0604020202020204" pitchFamily="34" charset="0"/>
              </a:rPr>
              <a:t>đã</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lưu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Người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tìm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a:t>
            </a:r>
          </a:p>
        </p:txBody>
      </p:sp>
      <p:grpSp>
        <p:nvGrpSpPr>
          <p:cNvPr id="9" name="Group 8"/>
          <p:cNvGrpSpPr/>
          <p:nvPr/>
        </p:nvGrpSpPr>
        <p:grpSpPr>
          <a:xfrm>
            <a:off x="1824930" y="1053469"/>
            <a:ext cx="8542139" cy="5743963"/>
            <a:chOff x="724306" y="761560"/>
            <a:chExt cx="8542139" cy="5743963"/>
          </a:xfrm>
        </p:grpSpPr>
        <p:pic>
          <p:nvPicPr>
            <p:cNvPr id="4" name="Picture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523246" y="761560"/>
              <a:ext cx="2743199" cy="5743962"/>
            </a:xfrm>
            <a:prstGeom prst="rect">
              <a:avLst/>
            </a:prstGeom>
          </p:spPr>
        </p:pic>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23776" y="761560"/>
              <a:ext cx="2743199" cy="5743962"/>
            </a:xfrm>
            <a:prstGeom prst="rect">
              <a:avLst/>
            </a:prstGeom>
          </p:spPr>
        </p:pic>
        <p:pic>
          <p:nvPicPr>
            <p:cNvPr id="8" name="Picture 7"/>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24306" y="761561"/>
              <a:ext cx="2743199" cy="5743962"/>
            </a:xfrm>
            <a:prstGeom prst="rect">
              <a:avLst/>
            </a:prstGeom>
          </p:spPr>
        </p:pic>
      </p:grpSp>
    </p:spTree>
    <p:extLst>
      <p:ext uri="{BB962C8B-B14F-4D97-AF65-F5344CB8AC3E}">
        <p14:creationId xmlns:p14="http://schemas.microsoft.com/office/powerpoint/2010/main" val="377982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2413763" y="653358"/>
            <a:ext cx="7364517"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Các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chức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năng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quản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lý</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viên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bài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grpSp>
        <p:nvGrpSpPr>
          <p:cNvPr id="9" name="Group 8"/>
          <p:cNvGrpSpPr/>
          <p:nvPr/>
        </p:nvGrpSpPr>
        <p:grpSpPr>
          <a:xfrm>
            <a:off x="375195" y="1053469"/>
            <a:ext cx="11441609" cy="5743963"/>
            <a:chOff x="724306" y="761560"/>
            <a:chExt cx="11441609" cy="5743963"/>
          </a:xfrm>
        </p:grpSpPr>
        <p:pic>
          <p:nvPicPr>
            <p:cNvPr id="3" name="Picture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422716" y="761560"/>
              <a:ext cx="2743199" cy="5743962"/>
            </a:xfrm>
            <a:prstGeom prst="rect">
              <a:avLst/>
            </a:prstGeom>
          </p:spPr>
        </p:pic>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523246" y="761560"/>
              <a:ext cx="2743199" cy="5743962"/>
            </a:xfrm>
            <a:prstGeom prst="rect">
              <a:avLst/>
            </a:prstGeom>
          </p:spPr>
        </p:pic>
        <p:pic>
          <p:nvPicPr>
            <p:cNvPr id="6" name="Picture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623776" y="761560"/>
              <a:ext cx="2743199" cy="5743962"/>
            </a:xfrm>
            <a:prstGeom prst="rect">
              <a:avLst/>
            </a:prstGeom>
          </p:spPr>
        </p:pic>
        <p:pic>
          <p:nvPicPr>
            <p:cNvPr id="8" name="Picture 7"/>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24306" y="761561"/>
              <a:ext cx="2743199" cy="5743962"/>
            </a:xfrm>
            <a:prstGeom prst="rect">
              <a:avLst/>
            </a:prstGeom>
          </p:spPr>
        </p:pic>
      </p:grpSp>
    </p:spTree>
    <p:extLst>
      <p:ext uri="{BB962C8B-B14F-4D97-AF65-F5344CB8AC3E}">
        <p14:creationId xmlns:p14="http://schemas.microsoft.com/office/powerpoint/2010/main" val="918678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3673728" y="653358"/>
            <a:ext cx="4844596"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Đăng</a:t>
            </a:r>
            <a:r>
              <a:rPr lang="en-US" sz="2000" b="1" dirty="0">
                <a:latin typeface="Arial" panose="020B0604020202020204" pitchFamily="34" charset="0"/>
                <a:cs typeface="Arial" panose="020B0604020202020204" pitchFamily="34" charset="0"/>
              </a:rPr>
              <a:t> tin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grpSp>
        <p:nvGrpSpPr>
          <p:cNvPr id="9" name="Group 8"/>
          <p:cNvGrpSpPr/>
          <p:nvPr/>
        </p:nvGrpSpPr>
        <p:grpSpPr>
          <a:xfrm>
            <a:off x="1824930" y="1053470"/>
            <a:ext cx="8542139" cy="5743961"/>
            <a:chOff x="724306" y="761561"/>
            <a:chExt cx="8542139" cy="5743961"/>
          </a:xfrm>
        </p:grpSpPr>
        <p:pic>
          <p:nvPicPr>
            <p:cNvPr id="4" name="Picture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523246" y="761561"/>
              <a:ext cx="2743199" cy="5743960"/>
            </a:xfrm>
            <a:prstGeom prst="rect">
              <a:avLst/>
            </a:prstGeom>
          </p:spPr>
        </p:pic>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23776" y="761561"/>
              <a:ext cx="2743199" cy="5743960"/>
            </a:xfrm>
            <a:prstGeom prst="rect">
              <a:avLst/>
            </a:prstGeom>
          </p:spPr>
        </p:pic>
        <p:pic>
          <p:nvPicPr>
            <p:cNvPr id="8" name="Picture 7"/>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24306" y="761562"/>
              <a:ext cx="2743199" cy="5743960"/>
            </a:xfrm>
            <a:prstGeom prst="rect">
              <a:avLst/>
            </a:prstGeom>
          </p:spPr>
        </p:pic>
      </p:grpSp>
    </p:spTree>
    <p:extLst>
      <p:ext uri="{BB962C8B-B14F-4D97-AF65-F5344CB8AC3E}">
        <p14:creationId xmlns:p14="http://schemas.microsoft.com/office/powerpoint/2010/main" val="2860901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3000823" y="84452"/>
            <a:ext cx="6190354" cy="677108"/>
          </a:xfrm>
          <a:prstGeom prst="rect">
            <a:avLst/>
          </a:prstGeom>
          <a:noFill/>
        </p:spPr>
        <p:txBody>
          <a:bodyPr wrap="square" rtlCol="0">
            <a:spAutoFit/>
          </a:bodyPr>
          <a:lstStyle/>
          <a:p>
            <a:pPr algn="ctr"/>
            <a:r>
              <a:rPr lang="en-US" sz="3800" b="1" dirty="0">
                <a:solidFill>
                  <a:srgbClr val="FF0000"/>
                </a:solidFill>
              </a:rPr>
              <a:t>5. HIỆN THỰC HỆ THỐNG</a:t>
            </a:r>
          </a:p>
        </p:txBody>
      </p:sp>
      <p:sp>
        <p:nvSpPr>
          <p:cNvPr id="7" name="TextBox 6"/>
          <p:cNvSpPr txBox="1"/>
          <p:nvPr/>
        </p:nvSpPr>
        <p:spPr>
          <a:xfrm>
            <a:off x="2627770" y="653358"/>
            <a:ext cx="6936515"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Danh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sách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viên</a:t>
            </a:r>
            <a:r>
              <a:rPr lang="en-US" sz="2000" b="1" dirty="0">
                <a:latin typeface="Arial" panose="020B0604020202020204" pitchFamily="34" charset="0"/>
                <a:cs typeface="Arial" panose="020B0604020202020204" pitchFamily="34" charset="0"/>
              </a:rPr>
              <a:t>, chi </a:t>
            </a:r>
            <a:r>
              <a:rPr lang="en-US" sz="2000" b="1" dirty="0" err="1">
                <a:latin typeface="Arial" panose="020B0604020202020204" pitchFamily="34" charset="0"/>
                <a:cs typeface="Arial" panose="020B0604020202020204" pitchFamily="34" charset="0"/>
              </a:rPr>
              <a:t>tiết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ứng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viên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Nhà</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tuyển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a:t>
            </a:r>
          </a:p>
        </p:txBody>
      </p:sp>
      <p:grpSp>
        <p:nvGrpSpPr>
          <p:cNvPr id="9" name="Group 8"/>
          <p:cNvGrpSpPr/>
          <p:nvPr/>
        </p:nvGrpSpPr>
        <p:grpSpPr>
          <a:xfrm>
            <a:off x="375195" y="1053470"/>
            <a:ext cx="11441609" cy="5743961"/>
            <a:chOff x="724306" y="761561"/>
            <a:chExt cx="11441609" cy="5743961"/>
          </a:xfrm>
        </p:grpSpPr>
        <p:pic>
          <p:nvPicPr>
            <p:cNvPr id="3" name="Picture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422716" y="761561"/>
              <a:ext cx="2743199" cy="5743960"/>
            </a:xfrm>
            <a:prstGeom prst="rect">
              <a:avLst/>
            </a:prstGeom>
          </p:spPr>
        </p:pic>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523246" y="761561"/>
              <a:ext cx="2743199" cy="5743960"/>
            </a:xfrm>
            <a:prstGeom prst="rect">
              <a:avLst/>
            </a:prstGeom>
          </p:spPr>
        </p:pic>
        <p:pic>
          <p:nvPicPr>
            <p:cNvPr id="6" name="Picture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623776" y="761561"/>
              <a:ext cx="2743199" cy="5743960"/>
            </a:xfrm>
            <a:prstGeom prst="rect">
              <a:avLst/>
            </a:prstGeom>
          </p:spPr>
        </p:pic>
        <p:pic>
          <p:nvPicPr>
            <p:cNvPr id="8" name="Picture 7"/>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24306" y="761562"/>
              <a:ext cx="2743199" cy="5743960"/>
            </a:xfrm>
            <a:prstGeom prst="rect">
              <a:avLst/>
            </a:prstGeom>
          </p:spPr>
        </p:pic>
      </p:grpSp>
    </p:spTree>
    <p:extLst>
      <p:ext uri="{BB962C8B-B14F-4D97-AF65-F5344CB8AC3E}">
        <p14:creationId xmlns:p14="http://schemas.microsoft.com/office/powerpoint/2010/main" val="3903864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6. TÍNH NĂNG AI CỦA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643" y="1847521"/>
            <a:ext cx="6056839" cy="3762177"/>
          </a:xfrm>
          <a:prstGeom prst="rect">
            <a:avLst/>
          </a:prstGeom>
        </p:spPr>
      </p:pic>
      <p:pic>
        <p:nvPicPr>
          <p:cNvPr id="16" name="Picture 1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977433" y="1331882"/>
            <a:ext cx="2286000" cy="4786635"/>
          </a:xfrm>
          <a:prstGeom prst="rect">
            <a:avLst/>
          </a:prstGeom>
        </p:spPr>
      </p:pic>
      <p:sp>
        <p:nvSpPr>
          <p:cNvPr id="8" name="TextBox 7"/>
          <p:cNvSpPr txBox="1"/>
          <p:nvPr/>
        </p:nvSpPr>
        <p:spPr>
          <a:xfrm>
            <a:off x="2586968" y="1060281"/>
            <a:ext cx="3212739"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Gợi</a:t>
            </a:r>
            <a:r>
              <a:rPr lang="en-US" sz="2000" b="1" dirty="0">
                <a:latin typeface="Arial" panose="020B0604020202020204" pitchFamily="34" charset="0"/>
                <a:cs typeface="Arial" panose="020B0604020202020204" pitchFamily="34" charset="0"/>
              </a:rPr>
              <a:t> ý </a:t>
            </a:r>
            <a:r>
              <a:rPr lang="en-US" sz="2000" b="1" dirty="0" err="1">
                <a:latin typeface="Arial" panose="020B0604020202020204" pitchFamily="34" charset="0"/>
                <a:cs typeface="Arial" panose="020B0604020202020204" pitchFamily="34" charset="0"/>
              </a:rPr>
              <a:t>công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việc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phù</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hợp</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1812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6. TÍNH NĂNG AI CỦA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53" y="2134297"/>
            <a:ext cx="4283428" cy="3181807"/>
          </a:xfrm>
          <a:prstGeom prst="rect">
            <a:avLst/>
          </a:prstGeom>
        </p:spPr>
      </p:pic>
      <p:pic>
        <p:nvPicPr>
          <p:cNvPr id="16" name="Picture 1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947906" y="1322374"/>
            <a:ext cx="2286000" cy="4786638"/>
          </a:xfrm>
          <a:prstGeom prst="rect">
            <a:avLst/>
          </a:prstGeom>
        </p:spPr>
      </p:pic>
      <p:pic>
        <p:nvPicPr>
          <p:cNvPr id="17" name="Picture 1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374670" y="1331881"/>
            <a:ext cx="2286000" cy="4786638"/>
          </a:xfrm>
          <a:prstGeom prst="rect">
            <a:avLst/>
          </a:prstGeom>
        </p:spPr>
      </p:pic>
      <p:pic>
        <p:nvPicPr>
          <p:cNvPr id="18" name="Picture 17"/>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801434" y="1322374"/>
            <a:ext cx="2286000" cy="4786638"/>
          </a:xfrm>
          <a:prstGeom prst="rect">
            <a:avLst/>
          </a:prstGeom>
        </p:spPr>
      </p:pic>
      <p:sp>
        <p:nvSpPr>
          <p:cNvPr id="19" name="TextBox 18"/>
          <p:cNvSpPr txBox="1"/>
          <p:nvPr/>
        </p:nvSpPr>
        <p:spPr>
          <a:xfrm>
            <a:off x="4613027" y="653358"/>
            <a:ext cx="2966005"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Câu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hỏi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trắc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nghiệm</a:t>
            </a:r>
            <a:r>
              <a:rPr lang="en-US" sz="2000" b="1" dirty="0">
                <a:latin typeface="Arial" panose="020B0604020202020204" pitchFamily="34" charset="0"/>
                <a:cs typeface="Arial" panose="020B0604020202020204" pitchFamily="34" charset="0"/>
              </a:rPr>
              <a:t> AI</a:t>
            </a:r>
          </a:p>
        </p:txBody>
      </p:sp>
    </p:spTree>
    <p:extLst>
      <p:ext uri="{BB962C8B-B14F-4D97-AF65-F5344CB8AC3E}">
        <p14:creationId xmlns:p14="http://schemas.microsoft.com/office/powerpoint/2010/main" val="711132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7. KIỂM THỬ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5" name="TextBox 14"/>
          <p:cNvSpPr txBox="1"/>
          <p:nvPr/>
        </p:nvSpPr>
        <p:spPr>
          <a:xfrm>
            <a:off x="4600457" y="758433"/>
            <a:ext cx="3175870"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thử</a:t>
            </a:r>
            <a:r>
              <a:rPr lang="en-US" sz="2000" b="1" dirty="0">
                <a:latin typeface="Arial" panose="020B0604020202020204" pitchFamily="34" charset="0"/>
                <a:cs typeface="Arial" panose="020B0604020202020204" pitchFamily="34" charset="0"/>
              </a:rPr>
              <a:t> backend (Jest)</a:t>
            </a:r>
          </a:p>
        </p:txBody>
      </p:sp>
      <p:sp>
        <p:nvSpPr>
          <p:cNvPr id="9" name="Rectangle 8">
            <a:extLst>
              <a:ext uri="{FF2B5EF4-FFF2-40B4-BE49-F238E27FC236}">
                <a16:creationId xmlns:a16="http://schemas.microsoft.com/office/drawing/2014/main" id="{2EB91243-1D20-4017-847C-2C725B94F0E3}"/>
              </a:ext>
            </a:extLst>
          </p:cNvPr>
          <p:cNvSpPr/>
          <p:nvPr/>
        </p:nvSpPr>
        <p:spPr>
          <a:xfrm>
            <a:off x="1628775" y="1562100"/>
            <a:ext cx="4559616" cy="590550"/>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Nhóm</a:t>
            </a:r>
            <a:r>
              <a:rPr lang="en-US" dirty="0">
                <a:latin typeface="Arial" panose="020B0604020202020204" pitchFamily="34" charset="0"/>
                <a:cs typeface="Arial" panose="020B0604020202020204" pitchFamily="34" charset="0"/>
              </a:rPr>
              <a:t> API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ký</a:t>
            </a:r>
            <a:endParaRPr lang="en-US"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AA263258-067F-43ED-B7BE-F88C9D8345D9}"/>
              </a:ext>
            </a:extLst>
          </p:cNvPr>
          <p:cNvSpPr/>
          <p:nvPr/>
        </p:nvSpPr>
        <p:spPr>
          <a:xfrm>
            <a:off x="1628774" y="2495550"/>
            <a:ext cx="4559617" cy="59055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Nhóm</a:t>
            </a:r>
            <a:r>
              <a:rPr lang="en-US" dirty="0">
                <a:latin typeface="Arial" panose="020B0604020202020204" pitchFamily="34" charset="0"/>
                <a:cs typeface="Arial" panose="020B0604020202020204" pitchFamily="34" charset="0"/>
              </a:rPr>
              <a:t> API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Guest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a:t>
            </a:r>
          </a:p>
        </p:txBody>
      </p:sp>
      <p:sp>
        <p:nvSpPr>
          <p:cNvPr id="13" name="Rectangle 12">
            <a:extLst>
              <a:ext uri="{FF2B5EF4-FFF2-40B4-BE49-F238E27FC236}">
                <a16:creationId xmlns:a16="http://schemas.microsoft.com/office/drawing/2014/main" id="{CCEC9882-7F40-4631-B021-C38E3864A9FD}"/>
              </a:ext>
            </a:extLst>
          </p:cNvPr>
          <p:cNvSpPr/>
          <p:nvPr/>
        </p:nvSpPr>
        <p:spPr>
          <a:xfrm>
            <a:off x="1628774" y="3429000"/>
            <a:ext cx="4559618" cy="59055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Nhóm</a:t>
            </a:r>
            <a:r>
              <a:rPr lang="en-US" dirty="0">
                <a:latin typeface="Arial" panose="020B0604020202020204" pitchFamily="34" charset="0"/>
                <a:cs typeface="Arial" panose="020B0604020202020204" pitchFamily="34" charset="0"/>
              </a:rPr>
              <a:t> API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Employer (</a:t>
            </a:r>
            <a:r>
              <a:rPr lang="en-US" dirty="0" err="1">
                <a:latin typeface="Arial" panose="020B0604020202020204" pitchFamily="34" charset="0"/>
                <a:cs typeface="Arial" panose="020B0604020202020204" pitchFamily="34" charset="0"/>
              </a:rPr>
              <a:t>Nhà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a:t>
            </a:r>
          </a:p>
        </p:txBody>
      </p:sp>
      <p:sp>
        <p:nvSpPr>
          <p:cNvPr id="16" name="Rectangle 15">
            <a:extLst>
              <a:ext uri="{FF2B5EF4-FFF2-40B4-BE49-F238E27FC236}">
                <a16:creationId xmlns:a16="http://schemas.microsoft.com/office/drawing/2014/main" id="{9C8C6D2A-EF3A-40DA-91C2-75F2601564F0}"/>
              </a:ext>
            </a:extLst>
          </p:cNvPr>
          <p:cNvSpPr/>
          <p:nvPr/>
        </p:nvSpPr>
        <p:spPr>
          <a:xfrm>
            <a:off x="1628774" y="4362450"/>
            <a:ext cx="4559617" cy="59055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Nhóm</a:t>
            </a:r>
            <a:r>
              <a:rPr lang="en-US" dirty="0">
                <a:latin typeface="Arial" panose="020B0604020202020204" pitchFamily="34" charset="0"/>
                <a:cs typeface="Arial" panose="020B0604020202020204" pitchFamily="34" charset="0"/>
              </a:rPr>
              <a:t> API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Jobseeker (Ng</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tìm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a:t>
            </a:r>
          </a:p>
        </p:txBody>
      </p:sp>
      <p:sp>
        <p:nvSpPr>
          <p:cNvPr id="17" name="Rectangle 16">
            <a:extLst>
              <a:ext uri="{FF2B5EF4-FFF2-40B4-BE49-F238E27FC236}">
                <a16:creationId xmlns:a16="http://schemas.microsoft.com/office/drawing/2014/main" id="{529275FA-B857-47AB-AE99-7E15CBC5543F}"/>
              </a:ext>
            </a:extLst>
          </p:cNvPr>
          <p:cNvSpPr/>
          <p:nvPr/>
        </p:nvSpPr>
        <p:spPr>
          <a:xfrm>
            <a:off x="1628774" y="5295900"/>
            <a:ext cx="4559617" cy="5905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latin typeface="Arial" panose="020B0604020202020204" pitchFamily="34" charset="0"/>
                <a:cs typeface="Arial" panose="020B0604020202020204" pitchFamily="34" charset="0"/>
              </a:rPr>
              <a:t>Nhóm</a:t>
            </a:r>
            <a:r>
              <a:rPr lang="en-US" dirty="0">
                <a:latin typeface="Arial" panose="020B0604020202020204" pitchFamily="34" charset="0"/>
                <a:cs typeface="Arial" panose="020B0604020202020204" pitchFamily="34" charset="0"/>
              </a:rPr>
              <a:t> API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Category (</a:t>
            </a:r>
            <a:r>
              <a:rPr lang="en-US" dirty="0" err="1">
                <a:latin typeface="Arial" panose="020B0604020202020204" pitchFamily="34" charset="0"/>
                <a:cs typeface="Arial" panose="020B0604020202020204" pitchFamily="34" charset="0"/>
              </a:rPr>
              <a:t>Danh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mục</a:t>
            </a:r>
            <a:r>
              <a:rPr lang="en-US" dirty="0">
                <a:latin typeface="Arial" panose="020B0604020202020204" pitchFamily="34" charset="0"/>
                <a:cs typeface="Arial" panose="020B0604020202020204" pitchFamily="34" charset="0"/>
              </a:rPr>
              <a:t>)</a:t>
            </a:r>
          </a:p>
        </p:txBody>
      </p:sp>
      <p:cxnSp>
        <p:nvCxnSpPr>
          <p:cNvPr id="18" name="Straight Connector 17">
            <a:extLst>
              <a:ext uri="{FF2B5EF4-FFF2-40B4-BE49-F238E27FC236}">
                <a16:creationId xmlns:a16="http://schemas.microsoft.com/office/drawing/2014/main" id="{7DD305FA-BA29-420E-8DA1-7712257F6315}"/>
              </a:ext>
            </a:extLst>
          </p:cNvPr>
          <p:cNvCxnSpPr/>
          <p:nvPr/>
        </p:nvCxnSpPr>
        <p:spPr>
          <a:xfrm>
            <a:off x="8677275" y="24955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343FFB8-32EA-45EF-87F1-023F43BDDDA2}"/>
              </a:ext>
            </a:extLst>
          </p:cNvPr>
          <p:cNvSpPr/>
          <p:nvPr/>
        </p:nvSpPr>
        <p:spPr>
          <a:xfrm>
            <a:off x="203199" y="3613150"/>
            <a:ext cx="219456" cy="222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2" name="Straight Connector 21">
            <a:extLst>
              <a:ext uri="{FF2B5EF4-FFF2-40B4-BE49-F238E27FC236}">
                <a16:creationId xmlns:a16="http://schemas.microsoft.com/office/drawing/2014/main" id="{CD44EA0A-4936-4C57-A1DD-E72735DBCC02}"/>
              </a:ext>
            </a:extLst>
          </p:cNvPr>
          <p:cNvCxnSpPr>
            <a:cxnSpLocks/>
            <a:stCxn id="9" idx="1"/>
            <a:endCxn id="19" idx="6"/>
          </p:cNvCxnSpPr>
          <p:nvPr/>
        </p:nvCxnSpPr>
        <p:spPr>
          <a:xfrm flipH="1">
            <a:off x="422655" y="1857375"/>
            <a:ext cx="1206120" cy="1866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07B4850-37E9-4C0E-8FCC-320DBF4CA654}"/>
              </a:ext>
            </a:extLst>
          </p:cNvPr>
          <p:cNvCxnSpPr>
            <a:cxnSpLocks/>
            <a:stCxn id="19" idx="6"/>
            <a:endCxn id="12" idx="1"/>
          </p:cNvCxnSpPr>
          <p:nvPr/>
        </p:nvCxnSpPr>
        <p:spPr>
          <a:xfrm flipV="1">
            <a:off x="422655" y="2790825"/>
            <a:ext cx="1206119" cy="933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A5D7AD9-ACC6-49E0-BE0D-4F2676A026AE}"/>
              </a:ext>
            </a:extLst>
          </p:cNvPr>
          <p:cNvCxnSpPr>
            <a:cxnSpLocks/>
            <a:stCxn id="19" idx="6"/>
            <a:endCxn id="13" idx="1"/>
          </p:cNvCxnSpPr>
          <p:nvPr/>
        </p:nvCxnSpPr>
        <p:spPr>
          <a:xfrm>
            <a:off x="422655" y="3724275"/>
            <a:ext cx="12061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CF149F0-8E8B-4776-8630-F3641C589831}"/>
              </a:ext>
            </a:extLst>
          </p:cNvPr>
          <p:cNvCxnSpPr>
            <a:cxnSpLocks/>
            <a:stCxn id="19" idx="6"/>
            <a:endCxn id="16" idx="1"/>
          </p:cNvCxnSpPr>
          <p:nvPr/>
        </p:nvCxnSpPr>
        <p:spPr>
          <a:xfrm>
            <a:off x="422655" y="3724275"/>
            <a:ext cx="1206119" cy="933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76488E-4BEF-4809-950F-E38764674317}"/>
              </a:ext>
            </a:extLst>
          </p:cNvPr>
          <p:cNvCxnSpPr>
            <a:cxnSpLocks/>
            <a:stCxn id="19" idx="6"/>
            <a:endCxn id="17" idx="1"/>
          </p:cNvCxnSpPr>
          <p:nvPr/>
        </p:nvCxnSpPr>
        <p:spPr>
          <a:xfrm>
            <a:off x="422655" y="3724275"/>
            <a:ext cx="1206119" cy="186690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3E20E0E-45A5-4DEB-B7B8-2B4D3CEB3CBD}"/>
              </a:ext>
            </a:extLst>
          </p:cNvPr>
          <p:cNvSpPr/>
          <p:nvPr/>
        </p:nvSpPr>
        <p:spPr>
          <a:xfrm>
            <a:off x="6604001" y="1562100"/>
            <a:ext cx="4487332" cy="43243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Kiểm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thử</a:t>
            </a:r>
            <a:r>
              <a:rPr lang="en-US" dirty="0">
                <a:solidFill>
                  <a:schemeClr val="tx1"/>
                </a:solidFill>
                <a:latin typeface="Arial" panose="020B0604020202020204" pitchFamily="34" charset="0"/>
                <a:cs typeface="Arial" panose="020B0604020202020204" pitchFamily="34" charset="0"/>
              </a:rPr>
              <a:t> Backend: </a:t>
            </a:r>
            <a:r>
              <a:rPr lang="en-US" dirty="0" err="1">
                <a:solidFill>
                  <a:schemeClr val="tx1"/>
                </a:solidFill>
                <a:latin typeface="Arial" panose="020B0604020202020204" pitchFamily="34" charset="0"/>
                <a:cs typeface="Arial" panose="020B0604020202020204" pitchFamily="34" charset="0"/>
              </a:rPr>
              <a:t>cho</a:t>
            </a:r>
            <a:r>
              <a:rPr lang="en-US" dirty="0">
                <a:solidFill>
                  <a:schemeClr val="tx1"/>
                </a:solidFill>
                <a:latin typeface="Arial" panose="020B0604020202020204" pitchFamily="34" charset="0"/>
                <a:cs typeface="Arial" panose="020B0604020202020204" pitchFamily="34" charset="0"/>
              </a:rPr>
              <a:t> 5 </a:t>
            </a: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API </a:t>
            </a:r>
            <a:r>
              <a:rPr lang="en-US" dirty="0" err="1">
                <a:solidFill>
                  <a:schemeClr val="tx1"/>
                </a:solidFill>
                <a:latin typeface="Arial" panose="020B0604020202020204" pitchFamily="34" charset="0"/>
                <a:cs typeface="Arial" panose="020B0604020202020204" pitchFamily="34" charset="0"/>
              </a:rPr>
              <a:t>chính</a:t>
            </a:r>
            <a:endParaRPr lang="en-US"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Auth (2 API)</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Guest (8 API)</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Employer (22 API)</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Jobseeker (19 API)</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Nhóm</a:t>
            </a:r>
            <a:r>
              <a:rPr lang="en-US" dirty="0">
                <a:solidFill>
                  <a:schemeClr val="tx1"/>
                </a:solidFill>
                <a:latin typeface="Arial" panose="020B0604020202020204" pitchFamily="34" charset="0"/>
                <a:cs typeface="Arial" panose="020B0604020202020204" pitchFamily="34" charset="0"/>
              </a:rPr>
              <a:t> Category (13 API)</a:t>
            </a: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Tốc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trung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bình</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31.86ms</a:t>
            </a:r>
            <a:endParaRPr lang="en-US" dirty="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chậm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nhất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đăng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tài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khoản</a:t>
            </a:r>
            <a:r>
              <a:rPr lang="en-US" dirty="0">
                <a:solidFill>
                  <a:schemeClr val="tx1"/>
                </a:solidFill>
                <a:latin typeface="Arial" panose="020B0604020202020204" pitchFamily="34" charset="0"/>
                <a:cs typeface="Arial" panose="020B0604020202020204" pitchFamily="34" charset="0"/>
              </a:rPr>
              <a:t>): 163ms</a:t>
            </a: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của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API </a:t>
            </a:r>
            <a:r>
              <a:rPr lang="en-US" dirty="0" err="1">
                <a:solidFill>
                  <a:schemeClr val="tx1"/>
                </a:solidFill>
                <a:latin typeface="Arial" panose="020B0604020202020204" pitchFamily="34" charset="0"/>
                <a:cs typeface="Arial" panose="020B0604020202020204" pitchFamily="34" charset="0"/>
              </a:rPr>
              <a:t>lấy</a:t>
            </a:r>
            <a:r>
              <a:rPr lang="en-US" dirty="0">
                <a:solidFill>
                  <a:schemeClr val="tx1"/>
                </a:solidFill>
                <a:latin typeface="Arial" panose="020B0604020202020204" pitchFamily="34" charset="0"/>
                <a:cs typeface="Arial" panose="020B0604020202020204" pitchFamily="34" charset="0"/>
              </a:rPr>
              <a:t> chi </a:t>
            </a:r>
            <a:r>
              <a:rPr lang="en-US" dirty="0" err="1">
                <a:solidFill>
                  <a:schemeClr val="tx1"/>
                </a:solidFill>
                <a:latin typeface="Arial" panose="020B0604020202020204" pitchFamily="34" charset="0"/>
                <a:cs typeface="Arial" panose="020B0604020202020204" pitchFamily="34" charset="0"/>
              </a:rPr>
              <a:t>tiết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chậm</a:t>
            </a:r>
            <a:r>
              <a:rPr lang="en-US" dirty="0">
                <a:solidFill>
                  <a:schemeClr val="tx1"/>
                </a:solidFill>
                <a:latin typeface="Arial" panose="020B0604020202020204" pitchFamily="34" charset="0"/>
                <a:cs typeface="Arial" panose="020B0604020202020204" pitchFamily="34" charset="0"/>
              </a:rPr>
              <a:t> h</a:t>
            </a:r>
            <a:r>
              <a:rPr lang="vi-VN" dirty="0">
                <a:solidFill>
                  <a:schemeClr val="tx1"/>
                </a:solidFill>
                <a:latin typeface="Arial" panose="020B0604020202020204" pitchFamily="34" charset="0"/>
                <a:cs typeface="Arial" panose="020B0604020202020204" pitchFamily="34" charset="0"/>
              </a:rPr>
              <a:t>ơ</a:t>
            </a:r>
            <a:r>
              <a:rPr lang="en-US" dirty="0">
                <a:solidFill>
                  <a:schemeClr val="tx1"/>
                </a:solidFill>
                <a:latin typeface="Arial" panose="020B0604020202020204" pitchFamily="34" charset="0"/>
                <a:cs typeface="Arial" panose="020B0604020202020204" pitchFamily="34" charset="0"/>
              </a:rPr>
              <a:t>n so </a:t>
            </a:r>
            <a:r>
              <a:rPr lang="en-US" dirty="0" err="1">
                <a:solidFill>
                  <a:schemeClr val="tx1"/>
                </a:solidFill>
                <a:latin typeface="Arial" panose="020B0604020202020204" pitchFamily="34" charset="0"/>
                <a:cs typeface="Arial" panose="020B0604020202020204" pitchFamily="34" charset="0"/>
              </a:rPr>
              <a:t>với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API </a:t>
            </a:r>
            <a:r>
              <a:rPr lang="en-US" dirty="0" err="1">
                <a:solidFill>
                  <a:schemeClr val="tx1"/>
                </a:solidFill>
                <a:latin typeface="Arial" panose="020B0604020202020204" pitchFamily="34" charset="0"/>
                <a:cs typeface="Arial" panose="020B0604020202020204" pitchFamily="34" charset="0"/>
              </a:rPr>
              <a:t>khác</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56790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7. KIỂM THỬ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5" name="TextBox 14"/>
          <p:cNvSpPr txBox="1"/>
          <p:nvPr/>
        </p:nvSpPr>
        <p:spPr>
          <a:xfrm>
            <a:off x="6620417" y="1296138"/>
            <a:ext cx="4230645"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thử</a:t>
            </a:r>
            <a:r>
              <a:rPr lang="en-US" sz="2000" b="1" dirty="0">
                <a:latin typeface="Arial" panose="020B0604020202020204" pitchFamily="34" charset="0"/>
                <a:cs typeface="Arial" panose="020B0604020202020204" pitchFamily="34" charset="0"/>
              </a:rPr>
              <a:t> backend </a:t>
            </a:r>
            <a:r>
              <a:rPr lang="en-US" sz="2000" b="1" dirty="0" smtClean="0">
                <a:latin typeface="Arial" panose="020B0604020202020204" pitchFamily="34" charset="0"/>
                <a:cs typeface="Arial" panose="020B0604020202020204" pitchFamily="34" charset="0"/>
              </a:rPr>
              <a:t>– </a:t>
            </a:r>
            <a:r>
              <a:rPr lang="en-US" sz="2000" b="1" dirty="0" err="1" smtClean="0">
                <a:latin typeface="Arial" panose="020B0604020202020204" pitchFamily="34" charset="0"/>
                <a:cs typeface="Arial" panose="020B0604020202020204" pitchFamily="34" charset="0"/>
              </a:rPr>
              <a:t>Nhóm</a:t>
            </a:r>
            <a:r>
              <a:rPr lang="en-US" sz="2000" b="1" dirty="0" smtClean="0">
                <a:latin typeface="Arial" panose="020B0604020202020204" pitchFamily="34" charset="0"/>
                <a:cs typeface="Arial" panose="020B0604020202020204" pitchFamily="34" charset="0"/>
              </a:rPr>
              <a:t> Guest</a:t>
            </a:r>
            <a:endParaRPr lang="en-US" sz="2000" b="1"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DD305FA-BA29-420E-8DA1-7712257F6315}"/>
              </a:ext>
            </a:extLst>
          </p:cNvPr>
          <p:cNvCxnSpPr/>
          <p:nvPr/>
        </p:nvCxnSpPr>
        <p:spPr>
          <a:xfrm>
            <a:off x="8677275" y="24955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3E20E0E-45A5-4DEB-B7B8-2B4D3CEB3CBD}"/>
              </a:ext>
            </a:extLst>
          </p:cNvPr>
          <p:cNvSpPr/>
          <p:nvPr/>
        </p:nvSpPr>
        <p:spPr>
          <a:xfrm>
            <a:off x="6492074" y="2630936"/>
            <a:ext cx="4487332" cy="22451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Kiểm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thử</a:t>
            </a:r>
            <a:r>
              <a:rPr lang="en-US" dirty="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nhóm</a:t>
            </a:r>
            <a:r>
              <a:rPr lang="en-US" dirty="0" smtClean="0">
                <a:solidFill>
                  <a:schemeClr val="tx1"/>
                </a:solidFill>
                <a:latin typeface="Arial" panose="020B0604020202020204" pitchFamily="34" charset="0"/>
                <a:cs typeface="Arial" panose="020B0604020202020204" pitchFamily="34" charset="0"/>
              </a:rPr>
              <a:t> Guest:</a:t>
            </a:r>
            <a:r>
              <a:rPr lang="en-US" dirty="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Tiến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công</a:t>
            </a:r>
            <a:r>
              <a:rPr lang="en-US" dirty="0" smtClean="0">
                <a:solidFill>
                  <a:schemeClr val="tx1"/>
                </a:solidFill>
                <a:latin typeface="Arial" panose="020B0604020202020204" pitchFamily="34" charset="0"/>
                <a:cs typeface="Arial" panose="020B0604020202020204" pitchFamily="34" charset="0"/>
              </a:rPr>
              <a:t> 17 test </a:t>
            </a:r>
            <a:r>
              <a:rPr lang="en-US" dirty="0" err="1" smtClean="0">
                <a:solidFill>
                  <a:schemeClr val="tx1"/>
                </a:solidFill>
                <a:latin typeface="Arial" panose="020B0604020202020204" pitchFamily="34" charset="0"/>
                <a:cs typeface="Arial" panose="020B0604020202020204" pitchFamily="34" charset="0"/>
              </a:rPr>
              <a:t>trên</a:t>
            </a:r>
            <a:r>
              <a:rPr lang="en-US" dirty="0" smtClean="0">
                <a:solidFill>
                  <a:schemeClr val="tx1"/>
                </a:solidFill>
                <a:latin typeface="Arial" panose="020B0604020202020204" pitchFamily="34" charset="0"/>
                <a:cs typeface="Arial" panose="020B0604020202020204" pitchFamily="34" charset="0"/>
              </a:rPr>
              <a:t> 8 API</a:t>
            </a:r>
            <a:endParaRPr lang="en-US" dirty="0" smtClean="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smtClean="0">
                <a:solidFill>
                  <a:schemeClr val="tx1"/>
                </a:solidFill>
                <a:latin typeface="Arial" panose="020B0604020202020204" pitchFamily="34" charset="0"/>
                <a:cs typeface="Arial" panose="020B0604020202020204" pitchFamily="34" charset="0"/>
              </a:rPr>
              <a:t>Tốc</a:t>
            </a:r>
            <a:r>
              <a:rPr lang="en-US" dirty="0" smtClean="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trung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bình</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57.71ms</a:t>
            </a:r>
            <a:endParaRPr lang="en-US" dirty="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chậm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nhất</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a:t>
            </a:r>
            <a:r>
              <a:rPr lang="en-US" dirty="0" err="1" smtClean="0">
                <a:solidFill>
                  <a:schemeClr val="tx1"/>
                </a:solidFill>
                <a:latin typeface="Arial" panose="020B0604020202020204" pitchFamily="34" charset="0"/>
                <a:cs typeface="Arial" panose="020B0604020202020204" pitchFamily="34" charset="0"/>
              </a:rPr>
              <a:t>Lấy</a:t>
            </a:r>
            <a:r>
              <a:rPr lang="en-US" dirty="0" smtClean="0">
                <a:solidFill>
                  <a:schemeClr val="tx1"/>
                </a:solidFill>
                <a:latin typeface="Arial" panose="020B0604020202020204" pitchFamily="34" charset="0"/>
                <a:cs typeface="Arial" panose="020B0604020202020204" pitchFamily="34" charset="0"/>
              </a:rPr>
              <a:t> chi </a:t>
            </a:r>
            <a:r>
              <a:rPr lang="en-US" dirty="0" err="1" smtClean="0">
                <a:solidFill>
                  <a:schemeClr val="tx1"/>
                </a:solidFill>
                <a:latin typeface="Arial" panose="020B0604020202020204" pitchFamily="34" charset="0"/>
                <a:cs typeface="Arial" panose="020B0604020202020204" pitchFamily="34" charset="0"/>
              </a:rPr>
              <a:t>tiết</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bài</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đăng</a:t>
            </a:r>
            <a:r>
              <a:rPr lang="en-US" dirty="0" smtClean="0">
                <a:solidFill>
                  <a:schemeClr val="tx1"/>
                </a:solidFill>
                <a:latin typeface="Arial" panose="020B0604020202020204" pitchFamily="34" charset="0"/>
                <a:cs typeface="Arial" panose="020B0604020202020204" pitchFamily="34" charset="0"/>
              </a:rPr>
              <a:t>): 158ms</a:t>
            </a:r>
            <a:endParaRPr lang="en-US" dirty="0">
              <a:solidFill>
                <a:schemeClr val="tx1"/>
              </a:solidFill>
              <a:latin typeface="Arial" panose="020B0604020202020204" pitchFamily="34" charset="0"/>
              <a:cs typeface="Arial" panose="020B0604020202020204" pitchFamily="34" charset="0"/>
            </a:endParaRPr>
          </a:p>
        </p:txBody>
      </p:sp>
      <p:pic>
        <p:nvPicPr>
          <p:cNvPr id="20" name="Picture 19"/>
          <p:cNvPicPr>
            <a:picLocks noChangeAspect="1"/>
          </p:cNvPicPr>
          <p:nvPr/>
        </p:nvPicPr>
        <p:blipFill>
          <a:blip r:embed="rId2"/>
          <a:stretch>
            <a:fillRect/>
          </a:stretch>
        </p:blipFill>
        <p:spPr>
          <a:xfrm>
            <a:off x="233311" y="955524"/>
            <a:ext cx="4713983" cy="2797977"/>
          </a:xfrm>
          <a:prstGeom prst="rect">
            <a:avLst/>
          </a:prstGeom>
        </p:spPr>
      </p:pic>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10" y="3753501"/>
            <a:ext cx="4713983" cy="2776608"/>
          </a:xfrm>
          <a:prstGeom prst="rect">
            <a:avLst/>
          </a:prstGeom>
        </p:spPr>
      </p:pic>
    </p:spTree>
    <p:extLst>
      <p:ext uri="{BB962C8B-B14F-4D97-AF65-F5344CB8AC3E}">
        <p14:creationId xmlns:p14="http://schemas.microsoft.com/office/powerpoint/2010/main" val="1381105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7. KIỂM THỬ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5" name="TextBox 14"/>
          <p:cNvSpPr txBox="1"/>
          <p:nvPr/>
        </p:nvSpPr>
        <p:spPr>
          <a:xfrm>
            <a:off x="6399205" y="1296138"/>
            <a:ext cx="4673075"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thử</a:t>
            </a:r>
            <a:r>
              <a:rPr lang="en-US" sz="2000" b="1" dirty="0">
                <a:latin typeface="Arial" panose="020B0604020202020204" pitchFamily="34" charset="0"/>
                <a:cs typeface="Arial" panose="020B0604020202020204" pitchFamily="34" charset="0"/>
              </a:rPr>
              <a:t> backend </a:t>
            </a:r>
            <a:r>
              <a:rPr lang="en-US" sz="2000" b="1" dirty="0" smtClean="0">
                <a:latin typeface="Arial" panose="020B0604020202020204" pitchFamily="34" charset="0"/>
                <a:cs typeface="Arial" panose="020B0604020202020204" pitchFamily="34" charset="0"/>
              </a:rPr>
              <a:t>– </a:t>
            </a:r>
            <a:r>
              <a:rPr lang="en-US" sz="2000" b="1" dirty="0" err="1" smtClean="0">
                <a:latin typeface="Arial" panose="020B0604020202020204" pitchFamily="34" charset="0"/>
                <a:cs typeface="Arial" panose="020B0604020202020204" pitchFamily="34" charset="0"/>
              </a:rPr>
              <a:t>Nhóm</a:t>
            </a:r>
            <a:r>
              <a:rPr lang="en-US" sz="2000" b="1" dirty="0" smtClean="0">
                <a:latin typeface="Arial" panose="020B0604020202020204" pitchFamily="34" charset="0"/>
                <a:cs typeface="Arial" panose="020B0604020202020204" pitchFamily="34" charset="0"/>
              </a:rPr>
              <a:t> Employer</a:t>
            </a:r>
            <a:endParaRPr lang="en-US" sz="2000" b="1"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DD305FA-BA29-420E-8DA1-7712257F6315}"/>
              </a:ext>
            </a:extLst>
          </p:cNvPr>
          <p:cNvCxnSpPr/>
          <p:nvPr/>
        </p:nvCxnSpPr>
        <p:spPr>
          <a:xfrm>
            <a:off x="8677275" y="24955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3E20E0E-45A5-4DEB-B7B8-2B4D3CEB3CBD}"/>
              </a:ext>
            </a:extLst>
          </p:cNvPr>
          <p:cNvSpPr/>
          <p:nvPr/>
        </p:nvSpPr>
        <p:spPr>
          <a:xfrm>
            <a:off x="6492073" y="3412332"/>
            <a:ext cx="4487332" cy="22451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Kiểm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thử</a:t>
            </a:r>
            <a:r>
              <a:rPr lang="en-US" dirty="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nhóm</a:t>
            </a:r>
            <a:r>
              <a:rPr lang="en-US" dirty="0" smtClean="0">
                <a:solidFill>
                  <a:schemeClr val="tx1"/>
                </a:solidFill>
                <a:latin typeface="Arial" panose="020B0604020202020204" pitchFamily="34" charset="0"/>
                <a:cs typeface="Arial" panose="020B0604020202020204" pitchFamily="34" charset="0"/>
              </a:rPr>
              <a:t> Employer: </a:t>
            </a:r>
            <a:r>
              <a:rPr lang="en-US" dirty="0" err="1" smtClean="0">
                <a:solidFill>
                  <a:schemeClr val="tx1"/>
                </a:solidFill>
                <a:latin typeface="Arial" panose="020B0604020202020204" pitchFamily="34" charset="0"/>
                <a:cs typeface="Arial" panose="020B0604020202020204" pitchFamily="34" charset="0"/>
              </a:rPr>
              <a:t>Tiến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công</a:t>
            </a:r>
            <a:r>
              <a:rPr lang="en-US" dirty="0" smtClean="0">
                <a:solidFill>
                  <a:schemeClr val="tx1"/>
                </a:solidFill>
                <a:latin typeface="Arial" panose="020B0604020202020204" pitchFamily="34" charset="0"/>
                <a:cs typeface="Arial" panose="020B0604020202020204" pitchFamily="34" charset="0"/>
              </a:rPr>
              <a:t> 71 test </a:t>
            </a:r>
            <a:r>
              <a:rPr lang="en-US" dirty="0" err="1" smtClean="0">
                <a:solidFill>
                  <a:schemeClr val="tx1"/>
                </a:solidFill>
                <a:latin typeface="Arial" panose="020B0604020202020204" pitchFamily="34" charset="0"/>
                <a:cs typeface="Arial" panose="020B0604020202020204" pitchFamily="34" charset="0"/>
              </a:rPr>
              <a:t>trên</a:t>
            </a:r>
            <a:r>
              <a:rPr lang="en-US" dirty="0" smtClean="0">
                <a:solidFill>
                  <a:schemeClr val="tx1"/>
                </a:solidFill>
                <a:latin typeface="Arial" panose="020B0604020202020204" pitchFamily="34" charset="0"/>
                <a:cs typeface="Arial" panose="020B0604020202020204" pitchFamily="34" charset="0"/>
              </a:rPr>
              <a:t> 22 API</a:t>
            </a:r>
            <a:endParaRPr lang="en-US" dirty="0" smtClean="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smtClean="0">
                <a:solidFill>
                  <a:schemeClr val="tx1"/>
                </a:solidFill>
                <a:latin typeface="Arial" panose="020B0604020202020204" pitchFamily="34" charset="0"/>
                <a:cs typeface="Arial" panose="020B0604020202020204" pitchFamily="34" charset="0"/>
              </a:rPr>
              <a:t>Tốc</a:t>
            </a:r>
            <a:r>
              <a:rPr lang="en-US" dirty="0" smtClean="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trung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bình</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16.06ms</a:t>
            </a:r>
            <a:endParaRPr lang="en-US" dirty="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chậm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nhất</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a:t>
            </a:r>
            <a:r>
              <a:rPr lang="en-US" dirty="0" err="1" smtClean="0">
                <a:solidFill>
                  <a:schemeClr val="tx1"/>
                </a:solidFill>
                <a:latin typeface="Arial" panose="020B0604020202020204" pitchFamily="34" charset="0"/>
                <a:cs typeface="Arial" panose="020B0604020202020204" pitchFamily="34" charset="0"/>
              </a:rPr>
              <a:t>Tìm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kiếm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ứng</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viên</a:t>
            </a:r>
            <a:r>
              <a:rPr lang="en-US" dirty="0" smtClean="0">
                <a:solidFill>
                  <a:schemeClr val="tx1"/>
                </a:solidFill>
                <a:latin typeface="Arial" panose="020B0604020202020204" pitchFamily="34" charset="0"/>
                <a:cs typeface="Arial" panose="020B0604020202020204" pitchFamily="34" charset="0"/>
              </a:rPr>
              <a:t>): 83ms</a:t>
            </a:r>
            <a:endParaRPr lang="en-US" dirty="0">
              <a:solidFill>
                <a:schemeClr val="tx1"/>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103400" y="932583"/>
            <a:ext cx="5194430" cy="564183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9789" y="2049465"/>
            <a:ext cx="3771900" cy="1009650"/>
          </a:xfrm>
          <a:prstGeom prst="rect">
            <a:avLst/>
          </a:prstGeom>
        </p:spPr>
      </p:pic>
      <p:pic>
        <p:nvPicPr>
          <p:cNvPr id="4" name="Picture 3"/>
          <p:cNvPicPr>
            <a:picLocks noChangeAspect="1"/>
          </p:cNvPicPr>
          <p:nvPr/>
        </p:nvPicPr>
        <p:blipFill>
          <a:blip r:embed="rId4"/>
          <a:stretch>
            <a:fillRect/>
          </a:stretch>
        </p:blipFill>
        <p:spPr>
          <a:xfrm>
            <a:off x="103400" y="932583"/>
            <a:ext cx="5194430" cy="5641834"/>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r="49815"/>
          <a:stretch/>
        </p:blipFill>
        <p:spPr>
          <a:xfrm>
            <a:off x="6830867" y="2049465"/>
            <a:ext cx="3809744" cy="1009650"/>
          </a:xfrm>
          <a:prstGeom prst="rect">
            <a:avLst/>
          </a:prstGeom>
        </p:spPr>
      </p:pic>
    </p:spTree>
    <p:extLst>
      <p:ext uri="{BB962C8B-B14F-4D97-AF65-F5344CB8AC3E}">
        <p14:creationId xmlns:p14="http://schemas.microsoft.com/office/powerpoint/2010/main" val="3251237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7. KIỂM THỬ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5" name="TextBox 14"/>
          <p:cNvSpPr txBox="1"/>
          <p:nvPr/>
        </p:nvSpPr>
        <p:spPr>
          <a:xfrm>
            <a:off x="6348709" y="1296138"/>
            <a:ext cx="4774064"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thử</a:t>
            </a:r>
            <a:r>
              <a:rPr lang="en-US" sz="2000" b="1" dirty="0">
                <a:latin typeface="Arial" panose="020B0604020202020204" pitchFamily="34" charset="0"/>
                <a:cs typeface="Arial" panose="020B0604020202020204" pitchFamily="34" charset="0"/>
              </a:rPr>
              <a:t> backend </a:t>
            </a:r>
            <a:r>
              <a:rPr lang="en-US" sz="2000" b="1" dirty="0" smtClean="0">
                <a:latin typeface="Arial" panose="020B0604020202020204" pitchFamily="34" charset="0"/>
                <a:cs typeface="Arial" panose="020B0604020202020204" pitchFamily="34" charset="0"/>
              </a:rPr>
              <a:t>– </a:t>
            </a:r>
            <a:r>
              <a:rPr lang="en-US" sz="2000" b="1" dirty="0" err="1" smtClean="0">
                <a:latin typeface="Arial" panose="020B0604020202020204" pitchFamily="34" charset="0"/>
                <a:cs typeface="Arial" panose="020B0604020202020204" pitchFamily="34" charset="0"/>
              </a:rPr>
              <a:t>Nhóm</a:t>
            </a:r>
            <a:r>
              <a:rPr lang="en-US" sz="2000" b="1" dirty="0" smtClean="0">
                <a:latin typeface="Arial" panose="020B0604020202020204" pitchFamily="34" charset="0"/>
                <a:cs typeface="Arial" panose="020B0604020202020204" pitchFamily="34" charset="0"/>
              </a:rPr>
              <a:t> Jobseeker</a:t>
            </a:r>
            <a:endParaRPr lang="en-US" sz="2000" b="1"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DD305FA-BA29-420E-8DA1-7712257F6315}"/>
              </a:ext>
            </a:extLst>
          </p:cNvPr>
          <p:cNvCxnSpPr/>
          <p:nvPr/>
        </p:nvCxnSpPr>
        <p:spPr>
          <a:xfrm>
            <a:off x="8677275" y="249555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3E20E0E-45A5-4DEB-B7B8-2B4D3CEB3CBD}"/>
              </a:ext>
            </a:extLst>
          </p:cNvPr>
          <p:cNvSpPr/>
          <p:nvPr/>
        </p:nvSpPr>
        <p:spPr>
          <a:xfrm>
            <a:off x="6492073" y="3412332"/>
            <a:ext cx="4487332" cy="22451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Kiểm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thử</a:t>
            </a:r>
            <a:r>
              <a:rPr lang="en-US" dirty="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nhóm</a:t>
            </a:r>
            <a:r>
              <a:rPr lang="en-US" dirty="0" smtClean="0">
                <a:solidFill>
                  <a:schemeClr val="tx1"/>
                </a:solidFill>
                <a:latin typeface="Arial" panose="020B0604020202020204" pitchFamily="34" charset="0"/>
                <a:cs typeface="Arial" panose="020B0604020202020204" pitchFamily="34" charset="0"/>
              </a:rPr>
              <a:t> Jobseeker: </a:t>
            </a:r>
            <a:r>
              <a:rPr lang="en-US" dirty="0" err="1" smtClean="0">
                <a:solidFill>
                  <a:schemeClr val="tx1"/>
                </a:solidFill>
                <a:latin typeface="Arial" panose="020B0604020202020204" pitchFamily="34" charset="0"/>
                <a:cs typeface="Arial" panose="020B0604020202020204" pitchFamily="34" charset="0"/>
              </a:rPr>
              <a:t>Tiến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công</a:t>
            </a:r>
            <a:r>
              <a:rPr lang="en-US" dirty="0" smtClean="0">
                <a:solidFill>
                  <a:schemeClr val="tx1"/>
                </a:solidFill>
                <a:latin typeface="Arial" panose="020B0604020202020204" pitchFamily="34" charset="0"/>
                <a:cs typeface="Arial" panose="020B0604020202020204" pitchFamily="34" charset="0"/>
              </a:rPr>
              <a:t> 57 test </a:t>
            </a:r>
            <a:r>
              <a:rPr lang="en-US" dirty="0" err="1" smtClean="0">
                <a:solidFill>
                  <a:schemeClr val="tx1"/>
                </a:solidFill>
                <a:latin typeface="Arial" panose="020B0604020202020204" pitchFamily="34" charset="0"/>
                <a:cs typeface="Arial" panose="020B0604020202020204" pitchFamily="34" charset="0"/>
              </a:rPr>
              <a:t>trên</a:t>
            </a:r>
            <a:r>
              <a:rPr lang="en-US" dirty="0" smtClean="0">
                <a:solidFill>
                  <a:schemeClr val="tx1"/>
                </a:solidFill>
                <a:latin typeface="Arial" panose="020B0604020202020204" pitchFamily="34" charset="0"/>
                <a:cs typeface="Arial" panose="020B0604020202020204" pitchFamily="34" charset="0"/>
              </a:rPr>
              <a:t> 19 API</a:t>
            </a:r>
            <a:endParaRPr lang="en-US" dirty="0" smtClean="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smtClean="0">
                <a:solidFill>
                  <a:schemeClr val="tx1"/>
                </a:solidFill>
                <a:latin typeface="Arial" panose="020B0604020202020204" pitchFamily="34" charset="0"/>
                <a:cs typeface="Arial" panose="020B0604020202020204" pitchFamily="34" charset="0"/>
              </a:rPr>
              <a:t>Tốc</a:t>
            </a:r>
            <a:r>
              <a:rPr lang="en-US" dirty="0" smtClean="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trung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bình</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18.79ms</a:t>
            </a:r>
            <a:endParaRPr lang="en-US" dirty="0">
              <a:solidFill>
                <a:schemeClr val="tx1"/>
              </a:solidFill>
              <a:latin typeface="Arial" panose="020B0604020202020204" pitchFamily="34" charset="0"/>
              <a:cs typeface="Arial" panose="020B0604020202020204" pitchFamily="34" charset="0"/>
            </a:endParaRPr>
          </a:p>
          <a:p>
            <a:pPr marL="285750" indent="-285750">
              <a:buFont typeface="Symbol" panose="05050102010706020507" pitchFamily="18" charset="2"/>
              <a:buChar char="Þ"/>
            </a:pP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chậm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nhất</a:t>
            </a:r>
            <a:r>
              <a:rPr lang="en-US" dirty="0">
                <a:solidFill>
                  <a:schemeClr val="tx1"/>
                </a:solidFill>
                <a:latin typeface="Arial" panose="020B0604020202020204" pitchFamily="34" charset="0"/>
                <a:cs typeface="Arial" panose="020B0604020202020204" pitchFamily="34" charset="0"/>
              </a:rPr>
              <a:t> </a:t>
            </a:r>
            <a:r>
              <a:rPr lang="en-US" dirty="0" smtClean="0">
                <a:solidFill>
                  <a:schemeClr val="tx1"/>
                </a:solidFill>
                <a:latin typeface="Arial" panose="020B0604020202020204" pitchFamily="34" charset="0"/>
                <a:cs typeface="Arial" panose="020B0604020202020204" pitchFamily="34" charset="0"/>
              </a:rPr>
              <a:t>(</a:t>
            </a:r>
            <a:r>
              <a:rPr lang="en-US" dirty="0" err="1" smtClean="0">
                <a:solidFill>
                  <a:schemeClr val="tx1"/>
                </a:solidFill>
                <a:latin typeface="Arial" panose="020B0604020202020204" pitchFamily="34" charset="0"/>
                <a:cs typeface="Arial" panose="020B0604020202020204" pitchFamily="34" charset="0"/>
              </a:rPr>
              <a:t>Lấy</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thông</a:t>
            </a:r>
            <a:r>
              <a:rPr lang="en-US" dirty="0" smtClean="0">
                <a:solidFill>
                  <a:schemeClr val="tx1"/>
                </a:solidFill>
                <a:latin typeface="Arial" panose="020B0604020202020204" pitchFamily="34" charset="0"/>
                <a:cs typeface="Arial" panose="020B0604020202020204" pitchFamily="34" charset="0"/>
              </a:rPr>
              <a:t> tin </a:t>
            </a:r>
            <a:r>
              <a:rPr lang="en-US" dirty="0" err="1" smtClean="0">
                <a:solidFill>
                  <a:schemeClr val="tx1"/>
                </a:solidFill>
                <a:latin typeface="Arial" panose="020B0604020202020204" pitchFamily="34" charset="0"/>
                <a:cs typeface="Arial" panose="020B0604020202020204" pitchFamily="34" charset="0"/>
              </a:rPr>
              <a:t>cơ</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bản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người</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dùng</a:t>
            </a:r>
            <a:r>
              <a:rPr lang="en-US" dirty="0" smtClean="0">
                <a:solidFill>
                  <a:schemeClr val="tx1"/>
                </a:solidFill>
                <a:latin typeface="Arial" panose="020B0604020202020204" pitchFamily="34" charset="0"/>
                <a:cs typeface="Arial" panose="020B0604020202020204" pitchFamily="34" charset="0"/>
              </a:rPr>
              <a:t>): 80ms</a:t>
            </a:r>
            <a:endParaRPr lang="en-US" dirty="0">
              <a:solidFill>
                <a:schemeClr val="tx1"/>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103400" y="932583"/>
            <a:ext cx="5194430" cy="564183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9789" y="2049465"/>
            <a:ext cx="3771900" cy="1009650"/>
          </a:xfrm>
          <a:prstGeom prst="rect">
            <a:avLst/>
          </a:prstGeom>
        </p:spPr>
      </p:pic>
    </p:spTree>
    <p:extLst>
      <p:ext uri="{BB962C8B-B14F-4D97-AF65-F5344CB8AC3E}">
        <p14:creationId xmlns:p14="http://schemas.microsoft.com/office/powerpoint/2010/main" val="437740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7. KIỂM THỬ HỆ THỐNG</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grpSp>
        <p:nvGrpSpPr>
          <p:cNvPr id="8" name="Group 7"/>
          <p:cNvGrpSpPr/>
          <p:nvPr/>
        </p:nvGrpSpPr>
        <p:grpSpPr>
          <a:xfrm>
            <a:off x="178290" y="961615"/>
            <a:ext cx="4655099" cy="5818909"/>
            <a:chOff x="2105746" y="-4283508"/>
            <a:chExt cx="7629525" cy="10839450"/>
          </a:xfrm>
        </p:grpSpPr>
        <p:pic>
          <p:nvPicPr>
            <p:cNvPr id="4" name="Picture 3"/>
            <p:cNvPicPr>
              <a:picLocks noChangeAspect="1"/>
            </p:cNvPicPr>
            <p:nvPr/>
          </p:nvPicPr>
          <p:blipFill>
            <a:blip r:embed="rId2"/>
            <a:stretch>
              <a:fillRect/>
            </a:stretch>
          </p:blipFill>
          <p:spPr>
            <a:xfrm>
              <a:off x="2105746" y="-4283508"/>
              <a:ext cx="7629525" cy="8239125"/>
            </a:xfrm>
            <a:prstGeom prst="rect">
              <a:avLst/>
            </a:prstGeom>
          </p:spPr>
        </p:pic>
        <p:pic>
          <p:nvPicPr>
            <p:cNvPr id="6" name="Picture 5"/>
            <p:cNvPicPr>
              <a:picLocks noChangeAspect="1"/>
            </p:cNvPicPr>
            <p:nvPr/>
          </p:nvPicPr>
          <p:blipFill>
            <a:blip r:embed="rId3"/>
            <a:stretch>
              <a:fillRect/>
            </a:stretch>
          </p:blipFill>
          <p:spPr>
            <a:xfrm>
              <a:off x="2110508" y="3955617"/>
              <a:ext cx="7620000" cy="2600325"/>
            </a:xfrm>
            <a:prstGeom prst="rect">
              <a:avLst/>
            </a:prstGeom>
          </p:spPr>
        </p:pic>
      </p:grpSp>
      <p:sp>
        <p:nvSpPr>
          <p:cNvPr id="20" name="TextBox 19"/>
          <p:cNvSpPr txBox="1"/>
          <p:nvPr/>
        </p:nvSpPr>
        <p:spPr>
          <a:xfrm>
            <a:off x="3841921" y="561505"/>
            <a:ext cx="4508157" cy="400110"/>
          </a:xfrm>
          <a:prstGeom prst="rect">
            <a:avLst/>
          </a:prstGeom>
          <a:noFill/>
        </p:spPr>
        <p:txBody>
          <a:bodyPr wrap="none" rtlCol="0">
            <a:spAutoFit/>
          </a:bodyPr>
          <a:lstStyle/>
          <a:p>
            <a:pPr algn="ctr"/>
            <a:r>
              <a:rPr lang="en-US" sz="2000" b="1" dirty="0" err="1">
                <a:latin typeface="Arial" panose="020B0604020202020204" pitchFamily="34" charset="0"/>
                <a:cs typeface="Arial" panose="020B0604020202020204" pitchFamily="34" charset="0"/>
              </a:rPr>
              <a:t>Kiểm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thử</a:t>
            </a:r>
            <a:r>
              <a:rPr lang="en-US" sz="2000" b="1" dirty="0">
                <a:latin typeface="Arial" panose="020B0604020202020204" pitchFamily="34" charset="0"/>
                <a:cs typeface="Arial" panose="020B0604020202020204" pitchFamily="34" charset="0"/>
              </a:rPr>
              <a:t> frontend (Manual Testing)</a:t>
            </a:r>
          </a:p>
        </p:txBody>
      </p:sp>
      <p:sp>
        <p:nvSpPr>
          <p:cNvPr id="11" name="Rectangle 10">
            <a:extLst>
              <a:ext uri="{FF2B5EF4-FFF2-40B4-BE49-F238E27FC236}">
                <a16:creationId xmlns:a16="http://schemas.microsoft.com/office/drawing/2014/main" id="{03E20E0E-45A5-4DEB-B7B8-2B4D3CEB3CBD}"/>
              </a:ext>
            </a:extLst>
          </p:cNvPr>
          <p:cNvSpPr/>
          <p:nvPr/>
        </p:nvSpPr>
        <p:spPr>
          <a:xfrm>
            <a:off x="6467134" y="2414805"/>
            <a:ext cx="4487332" cy="22451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fontend</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thủ</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công</a:t>
            </a:r>
            <a:endParaRPr lang="en-US" dirty="0" smtClean="0">
              <a:solidFill>
                <a:schemeClr val="tx1"/>
              </a:solidFill>
              <a:latin typeface="Arial" panose="020B0604020202020204" pitchFamily="34" charset="0"/>
              <a:cs typeface="Arial" panose="020B0604020202020204" pitchFamily="34" charset="0"/>
            </a:endParaRPr>
          </a:p>
          <a:p>
            <a:r>
              <a:rPr lang="en-US" dirty="0" err="1" smtClean="0">
                <a:solidFill>
                  <a:schemeClr val="tx1"/>
                </a:solidFill>
                <a:latin typeface="Arial" panose="020B0604020202020204" pitchFamily="34" charset="0"/>
                <a:cs typeface="Arial" panose="020B0604020202020204" pitchFamily="34" charset="0"/>
              </a:rPr>
              <a:t>Tiến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hành</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kiểm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thử</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thủ</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công</a:t>
            </a:r>
            <a:r>
              <a:rPr lang="en-US" dirty="0" smtClean="0">
                <a:solidFill>
                  <a:schemeClr val="tx1"/>
                </a:solidFill>
                <a:latin typeface="Arial" panose="020B0604020202020204" pitchFamily="34" charset="0"/>
                <a:cs typeface="Arial" panose="020B0604020202020204" pitchFamily="34" charset="0"/>
              </a:rPr>
              <a:t> 52 </a:t>
            </a:r>
            <a:r>
              <a:rPr lang="en-US" dirty="0" err="1" smtClean="0">
                <a:solidFill>
                  <a:schemeClr val="tx1"/>
                </a:solidFill>
                <a:latin typeface="Arial" panose="020B0604020202020204" pitchFamily="34" charset="0"/>
                <a:cs typeface="Arial" panose="020B0604020202020204" pitchFamily="34" charset="0"/>
              </a:rPr>
              <a:t>testcase</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dựa</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trên</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chức</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năng</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của</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các</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nhóm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người</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dùng</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và</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đạt</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được</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kết</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quả</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dự</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kiến</a:t>
            </a:r>
            <a:r>
              <a:rPr lang="en-US" dirty="0" smtClean="0">
                <a:solidFill>
                  <a:schemeClr val="tx1"/>
                </a:solidFill>
                <a:latin typeface="Arial" panose="020B0604020202020204" pitchFamily="34" charset="0"/>
                <a:cs typeface="Arial" panose="020B0604020202020204" pitchFamily="34" charset="0"/>
              </a:rPr>
              <a:t>.</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5587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523515" cy="677108"/>
          </a:xfrm>
          <a:prstGeom prst="rect">
            <a:avLst/>
          </a:prstGeom>
          <a:noFill/>
        </p:spPr>
        <p:txBody>
          <a:bodyPr wrap="square" rtlCol="0">
            <a:spAutoFit/>
          </a:bodyPr>
          <a:lstStyle/>
          <a:p>
            <a:pPr algn="ctr"/>
            <a:r>
              <a:rPr lang="en-US" sz="3800" b="1" dirty="0">
                <a:solidFill>
                  <a:srgbClr val="FF0000"/>
                </a:solidFill>
              </a:rPr>
              <a:t>8. TRIỂN KHAI HỆ THỐNG TRÊN AWS</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2" name="TextBox 1"/>
          <p:cNvSpPr txBox="1"/>
          <p:nvPr/>
        </p:nvSpPr>
        <p:spPr>
          <a:xfrm>
            <a:off x="6003662" y="1966207"/>
            <a:ext cx="6003636" cy="286232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EC2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mây</a:t>
            </a:r>
            <a:r>
              <a:rPr lang="en-US" dirty="0">
                <a:latin typeface="Arial" panose="020B0604020202020204" pitchFamily="34" charset="0"/>
                <a:cs typeface="Arial" panose="020B0604020202020204" pitchFamily="34" charset="0"/>
              </a:rPr>
              <a:t> S3.</a:t>
            </a:r>
          </a:p>
          <a:p>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nối</a:t>
            </a:r>
            <a:r>
              <a:rPr lang="en-US" dirty="0">
                <a:latin typeface="Arial" panose="020B0604020202020204" pitchFamily="34" charset="0"/>
                <a:cs typeface="Arial" panose="020B0604020202020204" pitchFamily="34" charset="0"/>
              </a:rPr>
              <a:t> SSH: </a:t>
            </a:r>
            <a:r>
              <a:rPr lang="en-US" dirty="0" err="1">
                <a:latin typeface="Arial" panose="020B0604020202020204" pitchFamily="34" charset="0"/>
                <a:cs typeface="Arial" panose="020B0604020202020204" pitchFamily="34" charset="0"/>
              </a:rPr>
              <a:t>Cấu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key pair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cập</a:t>
            </a:r>
            <a:r>
              <a:rPr lang="en-US" dirty="0">
                <a:latin typeface="Arial" panose="020B0604020202020204" pitchFamily="34" charset="0"/>
                <a:cs typeface="Arial" panose="020B0604020202020204" pitchFamily="34" charset="0"/>
              </a:rPr>
              <a:t> SSH an </a:t>
            </a:r>
            <a:r>
              <a:rPr lang="en-US" dirty="0" err="1">
                <a:latin typeface="Arial" panose="020B0604020202020204" pitchFamily="34" charset="0"/>
                <a:cs typeface="Arial" panose="020B0604020202020204" pitchFamily="34" charset="0"/>
              </a:rPr>
              <a:t>toàn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p>
          <a:p>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gồm</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22 (SSH)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80 (HTTP)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443 (HTTPS)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3306 (MySQL)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Cổng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backend 4000 </a:t>
            </a:r>
          </a:p>
          <a:p>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backend </a:t>
            </a:r>
            <a:r>
              <a:rPr lang="en-US" dirty="0" err="1">
                <a:latin typeface="Arial" panose="020B0604020202020204" pitchFamily="34" charset="0"/>
                <a:cs typeface="Arial" panose="020B0604020202020204" pitchFamily="34" charset="0"/>
              </a:rPr>
              <a:t>bằng</a:t>
            </a:r>
            <a:r>
              <a:rPr lang="en-US" dirty="0">
                <a:latin typeface="Arial" panose="020B0604020202020204" pitchFamily="34" charset="0"/>
                <a:cs typeface="Arial" panose="020B0604020202020204" pitchFamily="34" charset="0"/>
              </a:rPr>
              <a:t> pm2</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697" y="1853283"/>
            <a:ext cx="4757461" cy="3088171"/>
          </a:xfrm>
          <a:prstGeom prst="rect">
            <a:avLst/>
          </a:prstGeom>
        </p:spPr>
      </p:pic>
    </p:spTree>
    <p:extLst>
      <p:ext uri="{BB962C8B-B14F-4D97-AF65-F5344CB8AC3E}">
        <p14:creationId xmlns:p14="http://schemas.microsoft.com/office/powerpoint/2010/main" val="3760559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Rectangle 5"/>
          <p:cNvSpPr/>
          <p:nvPr/>
        </p:nvSpPr>
        <p:spPr>
          <a:xfrm>
            <a:off x="480291" y="822961"/>
            <a:ext cx="11231418" cy="56332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523515" cy="677108"/>
          </a:xfrm>
          <a:prstGeom prst="rect">
            <a:avLst/>
          </a:prstGeom>
          <a:noFill/>
        </p:spPr>
        <p:txBody>
          <a:bodyPr wrap="square" rtlCol="0">
            <a:spAutoFit/>
          </a:bodyPr>
          <a:lstStyle/>
          <a:p>
            <a:pPr algn="ctr"/>
            <a:r>
              <a:rPr lang="en-US" sz="3800" b="1" dirty="0">
                <a:solidFill>
                  <a:srgbClr val="FF0000"/>
                </a:solidFill>
              </a:rPr>
              <a:t>9. KẾT LUẬN</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2" name="TextBox 1"/>
          <p:cNvSpPr txBox="1"/>
          <p:nvPr/>
        </p:nvSpPr>
        <p:spPr>
          <a:xfrm>
            <a:off x="753807" y="1123354"/>
            <a:ext cx="10499710" cy="5262979"/>
          </a:xfrm>
          <a:prstGeom prst="rect">
            <a:avLst/>
          </a:prstGeom>
          <a:noFill/>
        </p:spPr>
        <p:txBody>
          <a:bodyPr wrap="square" rtlCol="0">
            <a:spAutoFit/>
          </a:bodyPr>
          <a:lstStyle/>
          <a:p>
            <a:r>
              <a:rPr lang="vi-VN" sz="2400" b="1" dirty="0"/>
              <a:t>Kết quả đạt được:</a:t>
            </a:r>
          </a:p>
          <a:p>
            <a:pPr marL="285750" indent="-285750">
              <a:buFont typeface="Arial" panose="020B0604020202020204" pitchFamily="34" charset="0"/>
              <a:buChar char="•"/>
            </a:pPr>
            <a:r>
              <a:rPr lang="vi-VN" sz="2400" dirty="0"/>
              <a:t>Phân tích được các yêu cầu chức năng và phi chức năng cần có của hệ thống.</a:t>
            </a:r>
          </a:p>
          <a:p>
            <a:pPr marL="285750" indent="-285750">
              <a:buFont typeface="Arial" panose="020B0604020202020204" pitchFamily="34" charset="0"/>
              <a:buChar char="•"/>
            </a:pPr>
            <a:r>
              <a:rPr lang="vi-VN" sz="2400" dirty="0"/>
              <a:t>Xây dựng được các lược đồ cần thiết cho hệ thống.</a:t>
            </a:r>
          </a:p>
          <a:p>
            <a:pPr marL="285750" indent="-285750">
              <a:buFont typeface="Arial" panose="020B0604020202020204" pitchFamily="34" charset="0"/>
              <a:buChar char="•"/>
            </a:pPr>
            <a:r>
              <a:rPr lang="vi-VN" sz="2400" dirty="0"/>
              <a:t>Lựa chọn và thiết kế kiến trúc phù hợp cho hệ thống.</a:t>
            </a:r>
          </a:p>
          <a:p>
            <a:pPr marL="285750" indent="-285750">
              <a:buFont typeface="Arial" panose="020B0604020202020204" pitchFamily="34" charset="0"/>
              <a:buChar char="•"/>
            </a:pPr>
            <a:r>
              <a:rPr lang="vi-VN" sz="2400" dirty="0"/>
              <a:t>Hiện thực thành công các chức năng cốt lõi của nền tảng.</a:t>
            </a:r>
          </a:p>
          <a:p>
            <a:pPr marL="285750" indent="-285750">
              <a:buFont typeface="Arial" panose="020B0604020202020204" pitchFamily="34" charset="0"/>
              <a:buChar char="•"/>
            </a:pPr>
            <a:r>
              <a:rPr lang="vi-VN" sz="2400" dirty="0"/>
              <a:t>Qua các bài kiểm thử, hệ thống đạt được độ ổn định và phản hồi đúng như kỳ vọng.</a:t>
            </a:r>
          </a:p>
          <a:p>
            <a:pPr marL="285750" indent="-285750">
              <a:buFont typeface="Arial" panose="020B0604020202020204" pitchFamily="34" charset="0"/>
              <a:buChar char="•"/>
            </a:pPr>
            <a:r>
              <a:rPr lang="vi-VN" sz="2400" dirty="0"/>
              <a:t>Triển khai hệ thống thành công trên AWS.</a:t>
            </a:r>
          </a:p>
          <a:p>
            <a:r>
              <a:rPr lang="vi-VN" sz="2400" b="1" dirty="0"/>
              <a:t>Hướng phát triển:</a:t>
            </a:r>
          </a:p>
          <a:p>
            <a:pPr marL="285750" indent="-285750">
              <a:buFont typeface="Arial" panose="020B0604020202020204" pitchFamily="34" charset="0"/>
              <a:buChar char="•"/>
            </a:pPr>
            <a:r>
              <a:rPr lang="vi-VN" sz="2400" dirty="0"/>
              <a:t>Tích hợp thêm chức năng thanh toán, cũng như thêm một số tính năng AI vào hệ thống nhằm Phân tích hồ sơ ứng viên, Dự báo mức lương và Gợi ý kỹ năng. Từ đó, nền tảng này sẽ giúp nâng cao trải nghiệm người dùng và tối ưu hóa quy trình tuyển dụng trong tương lai.</a:t>
            </a:r>
          </a:p>
        </p:txBody>
      </p:sp>
    </p:spTree>
    <p:extLst>
      <p:ext uri="{BB962C8B-B14F-4D97-AF65-F5344CB8AC3E}">
        <p14:creationId xmlns:p14="http://schemas.microsoft.com/office/powerpoint/2010/main" val="681247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523515" cy="677108"/>
          </a:xfrm>
          <a:prstGeom prst="rect">
            <a:avLst/>
          </a:prstGeom>
          <a:noFill/>
        </p:spPr>
        <p:txBody>
          <a:bodyPr wrap="square" rtlCol="0">
            <a:spAutoFit/>
          </a:bodyPr>
          <a:lstStyle/>
          <a:p>
            <a:pPr algn="ctr"/>
            <a:r>
              <a:rPr lang="en-US" sz="3800" b="1" dirty="0">
                <a:solidFill>
                  <a:srgbClr val="FF0000"/>
                </a:solidFill>
              </a:rPr>
              <a:t>TÀI LIỆU THAM KHẢO</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2" name="TextBox 1"/>
          <p:cNvSpPr txBox="1"/>
          <p:nvPr/>
        </p:nvSpPr>
        <p:spPr>
          <a:xfrm>
            <a:off x="1175830" y="1330466"/>
            <a:ext cx="10025124"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[1] </a:t>
            </a:r>
            <a:r>
              <a:rPr lang="en-US" u="sng" dirty="0">
                <a:latin typeface="Arial" panose="020B0604020202020204" pitchFamily="34" charset="0"/>
                <a:ea typeface="Tahoma" panose="020B0604030504040204" pitchFamily="34" charset="0"/>
                <a:cs typeface="Arial" panose="020B0604020202020204" pitchFamily="34" charset="0"/>
                <a:hlinkClick r:id="rId2"/>
              </a:rPr>
              <a:t>https://www.mpi.gov.vn/portal/Pages/2024-7-1/INFOGRAPHIC-Tinh-hinh-thi-truong-lao-dong-viec-lamgigzi0.aspx</a:t>
            </a:r>
            <a:r>
              <a:rPr lang="en-US" dirty="0">
                <a:latin typeface="Arial" panose="020B0604020202020204" pitchFamily="34" charset="0"/>
                <a:ea typeface="Tahoma" panose="020B060403050404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cuối</a:t>
            </a:r>
            <a:r>
              <a:rPr lang="en-US" dirty="0">
                <a:latin typeface="Arial" panose="020B0604020202020204" pitchFamily="34" charset="0"/>
                <a:cs typeface="Arial" panose="020B0604020202020204" pitchFamily="34" charset="0"/>
              </a:rPr>
              <a:t>: 22:34 </a:t>
            </a:r>
            <a:r>
              <a:rPr lang="en-US" dirty="0" err="1">
                <a:latin typeface="Arial" panose="020B0604020202020204" pitchFamily="34" charset="0"/>
                <a:cs typeface="Arial" panose="020B0604020202020204" pitchFamily="34" charset="0"/>
              </a:rPr>
              <a:t>ngày</a:t>
            </a:r>
            <a:r>
              <a:rPr lang="en-US" dirty="0">
                <a:latin typeface="Arial" panose="020B0604020202020204" pitchFamily="34" charset="0"/>
                <a:cs typeface="Arial" panose="020B0604020202020204" pitchFamily="34" charset="0"/>
              </a:rPr>
              <a:t> 30/04/2025) </a:t>
            </a:r>
          </a:p>
          <a:p>
            <a:r>
              <a:rPr lang="en-US" dirty="0">
                <a:latin typeface="Arial" panose="020B0604020202020204" pitchFamily="34" charset="0"/>
                <a:cs typeface="Arial" panose="020B0604020202020204" pitchFamily="34" charset="0"/>
              </a:rPr>
              <a:t>[2] </a:t>
            </a:r>
            <a:r>
              <a:rPr lang="en-US" u="sng" dirty="0">
                <a:latin typeface="Arial" panose="020B0604020202020204" pitchFamily="34" charset="0"/>
                <a:ea typeface="Tahoma" panose="020B0604030504040204" pitchFamily="34" charset="0"/>
                <a:cs typeface="Arial" panose="020B0604020202020204" pitchFamily="34" charset="0"/>
                <a:hlinkClick r:id="rId3"/>
              </a:rPr>
              <a:t>https://dcca.org.vn/bao-cao-ve-ky-thuat-so-viet-nam-2024</a:t>
            </a:r>
            <a:r>
              <a:rPr lang="en-US" dirty="0">
                <a:latin typeface="Arial" panose="020B0604020202020204" pitchFamily="34" charset="0"/>
                <a:ea typeface="Tahoma" panose="020B060403050404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cuối</a:t>
            </a:r>
            <a:r>
              <a:rPr lang="en-US" dirty="0">
                <a:latin typeface="Arial" panose="020B0604020202020204" pitchFamily="34" charset="0"/>
                <a:cs typeface="Arial" panose="020B0604020202020204" pitchFamily="34" charset="0"/>
              </a:rPr>
              <a:t>: 22:34 </a:t>
            </a:r>
          </a:p>
          <a:p>
            <a:r>
              <a:rPr lang="en-US" dirty="0" err="1">
                <a:latin typeface="Arial" panose="020B0604020202020204" pitchFamily="34" charset="0"/>
                <a:cs typeface="Arial" panose="020B0604020202020204" pitchFamily="34" charset="0"/>
              </a:rPr>
              <a:t>ngày</a:t>
            </a:r>
            <a:r>
              <a:rPr lang="en-US" dirty="0">
                <a:latin typeface="Arial" panose="020B0604020202020204" pitchFamily="34" charset="0"/>
                <a:cs typeface="Arial" panose="020B0604020202020204" pitchFamily="34" charset="0"/>
              </a:rPr>
              <a:t> 30/04/2025) </a:t>
            </a:r>
          </a:p>
          <a:p>
            <a:r>
              <a:rPr lang="en-US" dirty="0">
                <a:latin typeface="Arial" panose="020B0604020202020204" pitchFamily="34" charset="0"/>
                <a:cs typeface="Arial" panose="020B0604020202020204" pitchFamily="34" charset="0"/>
              </a:rPr>
              <a:t>[3] Software Engineering 10th Edition by Ian </a:t>
            </a:r>
            <a:r>
              <a:rPr lang="en-US" dirty="0" err="1">
                <a:latin typeface="Arial" panose="020B0604020202020204" pitchFamily="34" charset="0"/>
                <a:cs typeface="Arial" panose="020B0604020202020204" pitchFamily="34" charset="0"/>
              </a:rPr>
              <a:t>Sommerville</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[4] Fundamentals of Database Systems 7th Edition by </a:t>
            </a:r>
            <a:r>
              <a:rPr lang="en-US" dirty="0" err="1">
                <a:latin typeface="Arial" panose="020B0604020202020204" pitchFamily="34" charset="0"/>
                <a:cs typeface="Arial" panose="020B0604020202020204" pitchFamily="34" charset="0"/>
              </a:rPr>
              <a:t>Ramez</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Elmasri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Shamkant</a:t>
            </a:r>
            <a:r>
              <a:rPr lang="en-US" dirty="0">
                <a:latin typeface="Arial" panose="020B0604020202020204" pitchFamily="34" charset="0"/>
                <a:cs typeface="Arial" panose="020B0604020202020204" pitchFamily="34" charset="0"/>
              </a:rPr>
              <a:t> B. </a:t>
            </a:r>
          </a:p>
          <a:p>
            <a:r>
              <a:rPr lang="en-US" dirty="0" err="1">
                <a:latin typeface="Arial" panose="020B0604020202020204" pitchFamily="34" charset="0"/>
                <a:cs typeface="Arial" panose="020B0604020202020204" pitchFamily="34" charset="0"/>
              </a:rPr>
              <a:t>Navathe</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[5] Systems Analysis and Design 10th Edition by Kenneth E. Kendall, Julie E. Kendall</a:t>
            </a:r>
          </a:p>
          <a:p>
            <a:r>
              <a:rPr lang="en-US" dirty="0">
                <a:latin typeface="Arial" panose="020B0604020202020204" pitchFamily="34" charset="0"/>
                <a:cs typeface="Arial" panose="020B0604020202020204" pitchFamily="34" charset="0"/>
              </a:rPr>
              <a:t>[6] </a:t>
            </a:r>
            <a:r>
              <a:rPr lang="en-US" dirty="0">
                <a:latin typeface="Arial" panose="020B0604020202020204" pitchFamily="34" charset="0"/>
                <a:cs typeface="Arial" panose="020B0604020202020204" pitchFamily="34" charset="0"/>
                <a:hlinkClick r:id="rId4"/>
              </a:rPr>
              <a:t>https://reactnative.dev/</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[7] </a:t>
            </a:r>
            <a:r>
              <a:rPr lang="en-US" dirty="0">
                <a:latin typeface="Arial" panose="020B0604020202020204" pitchFamily="34" charset="0"/>
                <a:cs typeface="Arial" panose="020B0604020202020204" pitchFamily="34" charset="0"/>
                <a:hlinkClick r:id="rId5"/>
              </a:rPr>
              <a:t>https://nodejs.org/en/learn/getting-started/introduction-to-nodejs</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[8] </a:t>
            </a:r>
            <a:r>
              <a:rPr lang="en-US" dirty="0">
                <a:latin typeface="Arial" panose="020B0604020202020204" pitchFamily="34" charset="0"/>
                <a:cs typeface="Arial" panose="020B0604020202020204" pitchFamily="34" charset="0"/>
                <a:hlinkClick r:id="rId6"/>
              </a:rPr>
              <a:t>https://redux.js.org/introduction/getting-started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[9] </a:t>
            </a:r>
            <a:r>
              <a:rPr lang="en-US" dirty="0">
                <a:latin typeface="Arial" panose="020B0604020202020204" pitchFamily="34" charset="0"/>
                <a:cs typeface="Arial" panose="020B0604020202020204" pitchFamily="34" charset="0"/>
                <a:hlinkClick r:id="rId7"/>
              </a:rPr>
              <a:t>https://dev.mysql.com/doc/</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265726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6" name="Rectangle 5">
            <a:extLst>
              <a:ext uri="{FF2B5EF4-FFF2-40B4-BE49-F238E27FC236}">
                <a16:creationId xmlns:a16="http://schemas.microsoft.com/office/drawing/2014/main" id="{F548EBBA-3F12-4DD7-A8F3-D80F5C4E3990}"/>
              </a:ext>
            </a:extLst>
          </p:cNvPr>
          <p:cNvSpPr/>
          <p:nvPr/>
        </p:nvSpPr>
        <p:spPr>
          <a:xfrm rot="11389390" flipV="1">
            <a:off x="5238927" y="987141"/>
            <a:ext cx="7224949" cy="1754326"/>
          </a:xfrm>
          <a:prstGeom prst="rect">
            <a:avLst/>
          </a:prstGeom>
          <a:noFill/>
          <a:effectLst>
            <a:outerShdw blurRad="76200" dir="13500000" sy="23000" kx="1200000" algn="br" rotWithShape="0">
              <a:prstClr val="black">
                <a:alpha val="20000"/>
              </a:prstClr>
            </a:outerShdw>
          </a:effectLst>
          <a:scene3d>
            <a:camera prst="orthographicFront"/>
            <a:lightRig rig="soft" dir="t">
              <a:rot lat="0" lon="0" rev="15600000"/>
            </a:lightRig>
          </a:scene3d>
          <a:sp3d prstMaterial="translucentPowder"/>
        </p:spPr>
        <p:txBody>
          <a:bodyPr wrap="square" lIns="91440" tIns="45720" rIns="91440" bIns="45720">
            <a:spAutoFit/>
            <a:sp3d extrusionH="57150" prstMaterial="softEdge">
              <a:bevelT w="25400" h="38100"/>
            </a:sp3d>
          </a:bodyPr>
          <a:lstStyle/>
          <a:p>
            <a:pPr algn="ctr"/>
            <a:r>
              <a:rPr lang="en-US" sz="5400" b="1" cap="none" spc="0" dirty="0">
                <a:ln/>
                <a:solidFill>
                  <a:schemeClr val="accent1"/>
                </a:solidFill>
                <a:effectLst/>
                <a:latin typeface="Arial" panose="020B0604020202020204" pitchFamily="34" charset="0"/>
                <a:cs typeface="Arial" panose="020B0604020202020204" pitchFamily="34" charset="0"/>
              </a:rPr>
              <a:t>CẢM </a:t>
            </a:r>
            <a:r>
              <a:rPr lang="vi-VN" sz="5400" b="1" cap="none" spc="0" dirty="0">
                <a:ln/>
                <a:solidFill>
                  <a:schemeClr val="accent1"/>
                </a:solidFill>
                <a:effectLst/>
                <a:latin typeface="Arial" panose="020B0604020202020204" pitchFamily="34" charset="0"/>
                <a:cs typeface="Arial" panose="020B0604020202020204" pitchFamily="34" charset="0"/>
              </a:rPr>
              <a:t>Ơ</a:t>
            </a:r>
            <a:r>
              <a:rPr lang="en-US" sz="5400" b="1" cap="none" spc="0" dirty="0">
                <a:ln/>
                <a:solidFill>
                  <a:schemeClr val="accent1"/>
                </a:solidFill>
                <a:effectLst/>
                <a:latin typeface="Arial" panose="020B0604020202020204" pitchFamily="34" charset="0"/>
                <a:cs typeface="Arial" panose="020B0604020202020204" pitchFamily="34" charset="0"/>
              </a:rPr>
              <a:t>N HỘI ĐỒNG ĐÃ LẮNG NGHE</a:t>
            </a:r>
            <a:endParaRPr lang="en-US" sz="5400" b="1" cap="none" spc="0" dirty="0">
              <a:ln/>
              <a:solidFill>
                <a:schemeClr val="accent1"/>
              </a:solidFill>
              <a:effectLst/>
            </a:endParaRPr>
          </a:p>
        </p:txBody>
      </p:sp>
    </p:spTree>
    <p:extLst>
      <p:ext uri="{BB962C8B-B14F-4D97-AF65-F5344CB8AC3E}">
        <p14:creationId xmlns:p14="http://schemas.microsoft.com/office/powerpoint/2010/main" val="416350063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7011395" cy="677108"/>
          </a:xfrm>
          <a:prstGeom prst="rect">
            <a:avLst/>
          </a:prstGeom>
          <a:noFill/>
        </p:spPr>
        <p:txBody>
          <a:bodyPr wrap="square" rtlCol="0">
            <a:spAutoFit/>
          </a:bodyPr>
          <a:lstStyle/>
          <a:p>
            <a:pPr algn="ctr"/>
            <a:r>
              <a:rPr lang="en-US" sz="3800" b="1" dirty="0">
                <a:solidFill>
                  <a:srgbClr val="FF0000"/>
                </a:solidFill>
              </a:rPr>
              <a:t>TÁC DỤNG VIỆC CACHE</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2F78239-9851-48CF-954F-678A82E565C7}"/>
              </a:ext>
            </a:extLst>
          </p:cNvPr>
          <p:cNvPicPr>
            <a:picLocks noChangeAspect="1"/>
          </p:cNvPicPr>
          <p:nvPr/>
        </p:nvPicPr>
        <p:blipFill>
          <a:blip r:embed="rId2"/>
          <a:stretch>
            <a:fillRect/>
          </a:stretch>
        </p:blipFill>
        <p:spPr>
          <a:xfrm>
            <a:off x="6096000" y="853413"/>
            <a:ext cx="5985957" cy="2912570"/>
          </a:xfrm>
          <a:prstGeom prst="rect">
            <a:avLst/>
          </a:prstGeom>
        </p:spPr>
      </p:pic>
      <p:pic>
        <p:nvPicPr>
          <p:cNvPr id="10" name="Picture 9">
            <a:extLst>
              <a:ext uri="{FF2B5EF4-FFF2-40B4-BE49-F238E27FC236}">
                <a16:creationId xmlns:a16="http://schemas.microsoft.com/office/drawing/2014/main" id="{1FE0DEDB-857A-47B1-97B8-E3442AB0A6C4}"/>
              </a:ext>
            </a:extLst>
          </p:cNvPr>
          <p:cNvPicPr>
            <a:picLocks noChangeAspect="1"/>
          </p:cNvPicPr>
          <p:nvPr/>
        </p:nvPicPr>
        <p:blipFill>
          <a:blip r:embed="rId3"/>
          <a:stretch>
            <a:fillRect/>
          </a:stretch>
        </p:blipFill>
        <p:spPr>
          <a:xfrm>
            <a:off x="6096000" y="3945430"/>
            <a:ext cx="5985958" cy="2912570"/>
          </a:xfrm>
          <a:prstGeom prst="rect">
            <a:avLst/>
          </a:prstGeom>
        </p:spPr>
      </p:pic>
      <p:sp>
        <p:nvSpPr>
          <p:cNvPr id="11" name="TextBox 10">
            <a:extLst>
              <a:ext uri="{FF2B5EF4-FFF2-40B4-BE49-F238E27FC236}">
                <a16:creationId xmlns:a16="http://schemas.microsoft.com/office/drawing/2014/main" id="{53F6401D-974B-478E-A26F-7B278BD866DF}"/>
              </a:ext>
            </a:extLst>
          </p:cNvPr>
          <p:cNvSpPr txBox="1"/>
          <p:nvPr/>
        </p:nvSpPr>
        <p:spPr>
          <a:xfrm>
            <a:off x="4293047" y="1779451"/>
            <a:ext cx="1697901" cy="646331"/>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Gọi</a:t>
            </a:r>
            <a:r>
              <a:rPr lang="en-US" dirty="0">
                <a:latin typeface="Arial" panose="020B0604020202020204" pitchFamily="34" charset="0"/>
                <a:cs typeface="Arial" panose="020B0604020202020204" pitchFamily="34" charset="0"/>
              </a:rPr>
              <a:t> model </a:t>
            </a:r>
            <a:r>
              <a:rPr lang="en-US" dirty="0" err="1">
                <a:latin typeface="Arial" panose="020B0604020202020204" pitchFamily="34" charset="0"/>
                <a:cs typeface="Arial" panose="020B0604020202020204" pitchFamily="34" charset="0"/>
              </a:rPr>
              <a:t>khi</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ch</a:t>
            </a:r>
            <a:r>
              <a:rPr lang="vi-VN" dirty="0">
                <a:latin typeface="Arial" panose="020B0604020202020204" pitchFamily="34" charset="0"/>
                <a:cs typeface="Arial" panose="020B0604020202020204" pitchFamily="34" charset="0"/>
              </a:rPr>
              <a:t>ư</a:t>
            </a:r>
            <a:r>
              <a:rPr lang="en-US" dirty="0">
                <a:latin typeface="Arial" panose="020B0604020202020204" pitchFamily="34" charset="0"/>
                <a:cs typeface="Arial" panose="020B0604020202020204" pitchFamily="34" charset="0"/>
              </a:rPr>
              <a:t>a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cache</a:t>
            </a:r>
          </a:p>
        </p:txBody>
      </p:sp>
      <p:sp>
        <p:nvSpPr>
          <p:cNvPr id="14" name="TextBox 13">
            <a:extLst>
              <a:ext uri="{FF2B5EF4-FFF2-40B4-BE49-F238E27FC236}">
                <a16:creationId xmlns:a16="http://schemas.microsoft.com/office/drawing/2014/main" id="{0825E720-56C9-4358-81DA-092493E01055}"/>
              </a:ext>
            </a:extLst>
          </p:cNvPr>
          <p:cNvSpPr txBox="1"/>
          <p:nvPr/>
        </p:nvSpPr>
        <p:spPr>
          <a:xfrm>
            <a:off x="4801666" y="5078549"/>
            <a:ext cx="1201996" cy="646331"/>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xuất</a:t>
            </a:r>
            <a:r>
              <a:rPr lang="en-US" dirty="0">
                <a:latin typeface="Arial" panose="020B0604020202020204" pitchFamily="34" charset="0"/>
                <a:cs typeface="Arial" panose="020B0604020202020204" pitchFamily="34" charset="0"/>
              </a:rPr>
              <a:t> </a:t>
            </a:r>
          </a:p>
          <a:p>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cache</a:t>
            </a:r>
          </a:p>
        </p:txBody>
      </p:sp>
      <p:sp>
        <p:nvSpPr>
          <p:cNvPr id="12" name="Oval 11">
            <a:extLst>
              <a:ext uri="{FF2B5EF4-FFF2-40B4-BE49-F238E27FC236}">
                <a16:creationId xmlns:a16="http://schemas.microsoft.com/office/drawing/2014/main" id="{3660B71F-A540-4B33-A6FF-C13D310FC41A}"/>
              </a:ext>
            </a:extLst>
          </p:cNvPr>
          <p:cNvSpPr/>
          <p:nvPr/>
        </p:nvSpPr>
        <p:spPr>
          <a:xfrm>
            <a:off x="5885896" y="1794652"/>
            <a:ext cx="2201662" cy="9041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6" name="Oval 15">
            <a:extLst>
              <a:ext uri="{FF2B5EF4-FFF2-40B4-BE49-F238E27FC236}">
                <a16:creationId xmlns:a16="http://schemas.microsoft.com/office/drawing/2014/main" id="{49111192-8683-4EF9-96E0-881FE23BF9FD}"/>
              </a:ext>
            </a:extLst>
          </p:cNvPr>
          <p:cNvSpPr/>
          <p:nvPr/>
        </p:nvSpPr>
        <p:spPr>
          <a:xfrm>
            <a:off x="5885896" y="4820720"/>
            <a:ext cx="2512380" cy="9041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Rectangle 12">
            <a:extLst>
              <a:ext uri="{FF2B5EF4-FFF2-40B4-BE49-F238E27FC236}">
                <a16:creationId xmlns:a16="http://schemas.microsoft.com/office/drawing/2014/main" id="{4C6250D0-2D79-48D1-B3E7-1290BD343B8F}"/>
              </a:ext>
            </a:extLst>
          </p:cNvPr>
          <p:cNvSpPr/>
          <p:nvPr/>
        </p:nvSpPr>
        <p:spPr>
          <a:xfrm>
            <a:off x="452761" y="2797357"/>
            <a:ext cx="3955696" cy="1937252"/>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L</a:t>
            </a:r>
            <a:r>
              <a:rPr lang="vi-VN" dirty="0">
                <a:solidFill>
                  <a:schemeClr val="tx1"/>
                </a:solidFill>
                <a:latin typeface="Arial" panose="020B0604020202020204" pitchFamily="34" charset="0"/>
                <a:cs typeface="Arial" panose="020B0604020202020204" pitchFamily="34" charset="0"/>
              </a:rPr>
              <a:t>ư</a:t>
            </a:r>
            <a:r>
              <a:rPr lang="en-US" dirty="0">
                <a:solidFill>
                  <a:schemeClr val="tx1"/>
                </a:solidFill>
                <a:latin typeface="Arial" panose="020B0604020202020204" pitchFamily="34" charset="0"/>
                <a:cs typeface="Arial" panose="020B0604020202020204" pitchFamily="34" charset="0"/>
              </a:rPr>
              <a:t>u cache </a:t>
            </a:r>
            <a:r>
              <a:rPr lang="en-US" dirty="0" err="1">
                <a:solidFill>
                  <a:schemeClr val="tx1"/>
                </a:solidFill>
                <a:latin typeface="Arial" panose="020B0604020202020204" pitchFamily="34" charset="0"/>
                <a:cs typeface="Arial" panose="020B0604020202020204" pitchFamily="34" charset="0"/>
              </a:rPr>
              <a:t>nhằm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mục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đích</a:t>
            </a:r>
            <a:r>
              <a:rPr lang="en-US" dirty="0">
                <a:solidFill>
                  <a:schemeClr val="tx1"/>
                </a:solidFill>
                <a:latin typeface="Arial" panose="020B0604020202020204" pitchFamily="34" charset="0"/>
                <a:cs typeface="Arial" panose="020B0604020202020204" pitchFamily="34" charset="0"/>
              </a:rPr>
              <a:t>:</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Giảm</a:t>
            </a:r>
            <a:r>
              <a:rPr lang="en-US" dirty="0">
                <a:solidFill>
                  <a:schemeClr val="tx1"/>
                </a:solidFill>
                <a:latin typeface="Arial" panose="020B0604020202020204" pitchFamily="34" charset="0"/>
                <a:cs typeface="Arial" panose="020B0604020202020204" pitchFamily="34" charset="0"/>
              </a:rPr>
              <a:t> chi </a:t>
            </a:r>
            <a:r>
              <a:rPr lang="en-US" dirty="0" err="1">
                <a:solidFill>
                  <a:schemeClr val="tx1"/>
                </a:solidFill>
                <a:latin typeface="Arial" panose="020B0604020202020204" pitchFamily="34" charset="0"/>
                <a:cs typeface="Arial" panose="020B0604020202020204" pitchFamily="34" charset="0"/>
              </a:rPr>
              <a:t>phí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dụng</a:t>
            </a:r>
            <a:r>
              <a:rPr lang="en-US" dirty="0">
                <a:solidFill>
                  <a:schemeClr val="tx1"/>
                </a:solidFill>
                <a:latin typeface="Arial" panose="020B0604020202020204" pitchFamily="34" charset="0"/>
                <a:cs typeface="Arial" panose="020B0604020202020204" pitchFamily="34" charset="0"/>
              </a:rPr>
              <a:t> AI</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Giảm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gian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xử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của</a:t>
            </a:r>
            <a:r>
              <a:rPr lang="en-US" dirty="0">
                <a:solidFill>
                  <a:schemeClr val="tx1"/>
                </a:solidFill>
                <a:latin typeface="Arial" panose="020B0604020202020204" pitchFamily="34" charset="0"/>
                <a:cs typeface="Arial" panose="020B0604020202020204" pitchFamily="34" charset="0"/>
              </a:rPr>
              <a:t> backend (</a:t>
            </a:r>
            <a:r>
              <a:rPr lang="en-US" dirty="0" err="1">
                <a:solidFill>
                  <a:schemeClr val="tx1"/>
                </a:solidFill>
                <a:latin typeface="Arial" panose="020B0604020202020204" pitchFamily="34" charset="0"/>
                <a:cs typeface="Arial" panose="020B0604020202020204" pitchFamily="34" charset="0"/>
              </a:rPr>
              <a:t>phản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hồi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nhanh</a:t>
            </a:r>
            <a:r>
              <a:rPr lang="en-US" dirty="0">
                <a:solidFill>
                  <a:schemeClr val="tx1"/>
                </a:solidFill>
                <a:latin typeface="Arial" panose="020B0604020202020204" pitchFamily="34" charset="0"/>
                <a:cs typeface="Arial" panose="020B0604020202020204" pitchFamily="34" charset="0"/>
              </a:rPr>
              <a:t> h</a:t>
            </a:r>
            <a:r>
              <a:rPr lang="vi-VN" dirty="0">
                <a:solidFill>
                  <a:schemeClr val="tx1"/>
                </a:solidFill>
                <a:latin typeface="Arial" panose="020B0604020202020204" pitchFamily="34" charset="0"/>
                <a:cs typeface="Arial" panose="020B0604020202020204" pitchFamily="34" charset="0"/>
              </a:rPr>
              <a:t>ơ</a:t>
            </a:r>
            <a:r>
              <a:rPr lang="en-US" dirty="0">
                <a:solidFill>
                  <a:schemeClr val="tx1"/>
                </a:solidFill>
                <a:latin typeface="Arial" panose="020B0604020202020204" pitchFamily="34" charset="0"/>
                <a:cs typeface="Arial" panose="020B0604020202020204" pitchFamily="34" charset="0"/>
              </a:rPr>
              <a:t>n) </a:t>
            </a:r>
          </a:p>
        </p:txBody>
      </p:sp>
      <p:sp>
        <p:nvSpPr>
          <p:cNvPr id="17" name="TextBox 16">
            <a:extLst>
              <a:ext uri="{FF2B5EF4-FFF2-40B4-BE49-F238E27FC236}">
                <a16:creationId xmlns:a16="http://schemas.microsoft.com/office/drawing/2014/main" id="{4FCEF8E4-DAF2-42B3-B0C6-CFFB0204D407}"/>
              </a:ext>
            </a:extLst>
          </p:cNvPr>
          <p:cNvSpPr txBox="1"/>
          <p:nvPr/>
        </p:nvSpPr>
        <p:spPr>
          <a:xfrm>
            <a:off x="2673670" y="6486336"/>
            <a:ext cx="3212226" cy="369332"/>
          </a:xfrm>
          <a:prstGeom prst="rect">
            <a:avLst/>
          </a:prstGeom>
          <a:noFill/>
        </p:spPr>
        <p:txBody>
          <a:bodyPr wrap="none" rtlCol="0">
            <a:spAutoFit/>
          </a:bodyPr>
          <a:lstStyle/>
          <a:p>
            <a:r>
              <a:rPr lang="en-US" dirty="0"/>
              <a:t>Test </a:t>
            </a:r>
            <a:r>
              <a:rPr lang="en-US" dirty="0" err="1"/>
              <a:t>cho</a:t>
            </a:r>
            <a:r>
              <a:rPr lang="en-US" dirty="0"/>
              <a:t> </a:t>
            </a:r>
            <a:r>
              <a:rPr lang="en-US" dirty="0" err="1"/>
              <a:t>tạo</a:t>
            </a:r>
            <a:r>
              <a:rPr lang="en-US" dirty="0"/>
              <a:t> </a:t>
            </a:r>
            <a:r>
              <a:rPr lang="en-US" dirty="0" err="1"/>
              <a:t>câu</a:t>
            </a:r>
            <a:r>
              <a:rPr lang="en-US" dirty="0"/>
              <a:t> </a:t>
            </a:r>
            <a:r>
              <a:rPr lang="en-US" dirty="0" err="1"/>
              <a:t>hỏi</a:t>
            </a:r>
            <a:r>
              <a:rPr lang="en-US" dirty="0"/>
              <a:t> </a:t>
            </a:r>
            <a:r>
              <a:rPr lang="en-US" dirty="0" err="1"/>
              <a:t>trắc</a:t>
            </a:r>
            <a:r>
              <a:rPr lang="en-US" dirty="0"/>
              <a:t> </a:t>
            </a:r>
            <a:r>
              <a:rPr lang="en-US" dirty="0" err="1"/>
              <a:t>nghiệm</a:t>
            </a:r>
            <a:endParaRPr lang="en-US" dirty="0"/>
          </a:p>
        </p:txBody>
      </p:sp>
    </p:spTree>
    <p:extLst>
      <p:ext uri="{BB962C8B-B14F-4D97-AF65-F5344CB8AC3E}">
        <p14:creationId xmlns:p14="http://schemas.microsoft.com/office/powerpoint/2010/main" val="3825133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591059" y="84452"/>
            <a:ext cx="11074199" cy="677108"/>
          </a:xfrm>
          <a:prstGeom prst="rect">
            <a:avLst/>
          </a:prstGeom>
          <a:noFill/>
        </p:spPr>
        <p:txBody>
          <a:bodyPr wrap="square" rtlCol="0">
            <a:spAutoFit/>
          </a:bodyPr>
          <a:lstStyle/>
          <a:p>
            <a:pPr algn="ctr"/>
            <a:r>
              <a:rPr lang="en-US" sz="3800" b="1" dirty="0">
                <a:solidFill>
                  <a:srgbClr val="FF0000"/>
                </a:solidFill>
              </a:rPr>
              <a:t>MỘT SỐ LỖI KHI NHẬP TEXT VÀO AI REQUIREMENTS</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3F6401D-974B-478E-A26F-7B278BD866DF}"/>
              </a:ext>
            </a:extLst>
          </p:cNvPr>
          <p:cNvSpPr txBox="1"/>
          <p:nvPr/>
        </p:nvSpPr>
        <p:spPr>
          <a:xfrm>
            <a:off x="0" y="5879428"/>
            <a:ext cx="2775183" cy="646331"/>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Text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ngắn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Model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đ</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ợc</a:t>
            </a:r>
            <a:endParaRPr lang="en-US"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825E720-56C9-4358-81DA-092493E01055}"/>
              </a:ext>
            </a:extLst>
          </p:cNvPr>
          <p:cNvSpPr txBox="1"/>
          <p:nvPr/>
        </p:nvSpPr>
        <p:spPr>
          <a:xfrm>
            <a:off x="3697229" y="5897956"/>
            <a:ext cx="5455340" cy="646331"/>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Text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model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p>
          <a:p>
            <a:r>
              <a:rPr lang="en-US" dirty="0" err="1">
                <a:latin typeface="Arial" panose="020B0604020202020204" pitchFamily="34" charset="0"/>
                <a:cs typeface="Arial" panose="020B0604020202020204" pitchFamily="34" charset="0"/>
              </a:rPr>
              <a:t>trả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(JD)”</a:t>
            </a:r>
          </a:p>
        </p:txBody>
      </p:sp>
      <p:pic>
        <p:nvPicPr>
          <p:cNvPr id="6" name="Picture 5">
            <a:extLst>
              <a:ext uri="{FF2B5EF4-FFF2-40B4-BE49-F238E27FC236}">
                <a16:creationId xmlns:a16="http://schemas.microsoft.com/office/drawing/2014/main" id="{99D24252-8D8C-43D7-80C4-EE09C3FEC9B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75653" y="959000"/>
            <a:ext cx="2286000" cy="4786638"/>
          </a:xfrm>
          <a:prstGeom prst="rect">
            <a:avLst/>
          </a:prstGeom>
        </p:spPr>
      </p:pic>
      <p:pic>
        <p:nvPicPr>
          <p:cNvPr id="15" name="Picture 14">
            <a:extLst>
              <a:ext uri="{FF2B5EF4-FFF2-40B4-BE49-F238E27FC236}">
                <a16:creationId xmlns:a16="http://schemas.microsoft.com/office/drawing/2014/main" id="{56C5B7EA-59C2-4556-825B-075589B434A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188392" y="959000"/>
            <a:ext cx="2286000" cy="4786638"/>
          </a:xfrm>
          <a:prstGeom prst="rect">
            <a:avLst/>
          </a:prstGeom>
        </p:spPr>
      </p:pic>
      <p:pic>
        <p:nvPicPr>
          <p:cNvPr id="19" name="Picture 18">
            <a:extLst>
              <a:ext uri="{FF2B5EF4-FFF2-40B4-BE49-F238E27FC236}">
                <a16:creationId xmlns:a16="http://schemas.microsoft.com/office/drawing/2014/main" id="{35419EC2-0F3A-4977-A3D2-934DE730825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842158" y="959000"/>
            <a:ext cx="2286000" cy="4786638"/>
          </a:xfrm>
          <a:prstGeom prst="rect">
            <a:avLst/>
          </a:prstGeom>
        </p:spPr>
      </p:pic>
      <p:sp>
        <p:nvSpPr>
          <p:cNvPr id="20" name="Rectangle 19">
            <a:extLst>
              <a:ext uri="{FF2B5EF4-FFF2-40B4-BE49-F238E27FC236}">
                <a16:creationId xmlns:a16="http://schemas.microsoft.com/office/drawing/2014/main" id="{A6DB6302-AA67-4258-AE1B-7D36CC83E01F}"/>
              </a:ext>
            </a:extLst>
          </p:cNvPr>
          <p:cNvSpPr/>
          <p:nvPr/>
        </p:nvSpPr>
        <p:spPr>
          <a:xfrm>
            <a:off x="8953500" y="959000"/>
            <a:ext cx="2390775" cy="47866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Text </a:t>
            </a:r>
            <a:r>
              <a:rPr lang="en-US" dirty="0" err="1">
                <a:solidFill>
                  <a:schemeClr val="tx1"/>
                </a:solidFill>
                <a:latin typeface="Arial" panose="020B0604020202020204" pitchFamily="34" charset="0"/>
                <a:cs typeface="Arial" panose="020B0604020202020204" pitchFamily="34" charset="0"/>
              </a:rPr>
              <a:t>nhập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dài</a:t>
            </a:r>
            <a:r>
              <a:rPr lang="en-US" dirty="0">
                <a:solidFill>
                  <a:schemeClr val="tx1"/>
                </a:solidFill>
                <a:latin typeface="Arial" panose="020B0604020202020204" pitchFamily="34" charset="0"/>
                <a:cs typeface="Arial" panose="020B0604020202020204" pitchFamily="34" charset="0"/>
              </a:rPr>
              <a:t> h</a:t>
            </a:r>
            <a:r>
              <a:rPr lang="vi-VN" dirty="0">
                <a:solidFill>
                  <a:schemeClr val="tx1"/>
                </a:solidFill>
                <a:latin typeface="Arial" panose="020B0604020202020204" pitchFamily="34" charset="0"/>
                <a:cs typeface="Arial" panose="020B0604020202020204" pitchFamily="34" charset="0"/>
              </a:rPr>
              <a:t>ơ</a:t>
            </a:r>
            <a:r>
              <a:rPr lang="en-US" dirty="0">
                <a:solidFill>
                  <a:schemeClr val="tx1"/>
                </a:solidFill>
                <a:latin typeface="Arial" panose="020B0604020202020204" pitchFamily="34" charset="0"/>
                <a:cs typeface="Arial" panose="020B0604020202020204" pitchFamily="34" charset="0"/>
              </a:rPr>
              <a:t>n </a:t>
            </a:r>
            <a:r>
              <a:rPr lang="en-US" dirty="0" err="1">
                <a:solidFill>
                  <a:schemeClr val="tx1"/>
                </a:solidFill>
                <a:latin typeface="Arial" panose="020B0604020202020204" pitchFamily="34" charset="0"/>
                <a:cs typeface="Arial" panose="020B0604020202020204" pitchFamily="34" charset="0"/>
              </a:rPr>
              <a:t>giới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hạn</a:t>
            </a:r>
            <a:r>
              <a:rPr lang="en-US" dirty="0">
                <a:solidFill>
                  <a:schemeClr val="tx1"/>
                </a:solidFill>
                <a:latin typeface="Arial" panose="020B0604020202020204" pitchFamily="34" charset="0"/>
                <a:cs typeface="Arial" panose="020B0604020202020204" pitchFamily="34" charset="0"/>
              </a:rPr>
              <a:t> input </a:t>
            </a:r>
            <a:r>
              <a:rPr lang="en-US" dirty="0" err="1">
                <a:solidFill>
                  <a:schemeClr val="tx1"/>
                </a:solidFill>
                <a:latin typeface="Arial" panose="020B0604020202020204" pitchFamily="34" charset="0"/>
                <a:cs typeface="Arial" panose="020B0604020202020204" pitchFamily="34" charset="0"/>
              </a:rPr>
              <a:t>đầu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của</a:t>
            </a:r>
            <a:r>
              <a:rPr lang="en-US" dirty="0">
                <a:solidFill>
                  <a:schemeClr val="tx1"/>
                </a:solidFill>
                <a:latin typeface="Arial" panose="020B0604020202020204" pitchFamily="34" charset="0"/>
                <a:cs typeface="Arial" panose="020B0604020202020204" pitchFamily="34" charset="0"/>
              </a:rPr>
              <a:t> model (65.353 token)</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=&gt; </a:t>
            </a:r>
            <a:r>
              <a:rPr lang="en-US" dirty="0" err="1">
                <a:solidFill>
                  <a:schemeClr val="tx1"/>
                </a:solidFill>
                <a:latin typeface="Arial" panose="020B0604020202020204" pitchFamily="34" charset="0"/>
                <a:cs typeface="Arial" panose="020B0604020202020204" pitchFamily="34" charset="0"/>
              </a:rPr>
              <a:t>sẽ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báo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lỗi</a:t>
            </a:r>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=&gt; </a:t>
            </a:r>
            <a:r>
              <a:rPr lang="en-US" dirty="0" err="1">
                <a:solidFill>
                  <a:schemeClr val="tx1"/>
                </a:solidFill>
                <a:latin typeface="Arial" panose="020B0604020202020204" pitchFamily="34" charset="0"/>
                <a:cs typeface="Arial" panose="020B0604020202020204" pitchFamily="34" charset="0"/>
              </a:rPr>
              <a:t>Xử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giới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tự</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vào</a:t>
            </a:r>
            <a:r>
              <a:rPr lang="en-US" dirty="0">
                <a:solidFill>
                  <a:schemeClr val="tx1"/>
                </a:solidFill>
                <a:latin typeface="Arial" panose="020B0604020202020204" pitchFamily="34" charset="0"/>
                <a:cs typeface="Arial" panose="020B0604020202020204" pitchFamily="34" charset="0"/>
              </a:rPr>
              <a:t> ở frontend </a:t>
            </a:r>
            <a:r>
              <a:rPr lang="en-US" dirty="0" err="1">
                <a:solidFill>
                  <a:schemeClr val="tx1"/>
                </a:solidFill>
                <a:latin typeface="Arial" panose="020B0604020202020204" pitchFamily="34" charset="0"/>
                <a:cs typeface="Arial" panose="020B0604020202020204" pitchFamily="34" charset="0"/>
              </a:rPr>
              <a:t>đối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với</a:t>
            </a:r>
            <a:r>
              <a:rPr lang="en-US" dirty="0">
                <a:solidFill>
                  <a:schemeClr val="tx1"/>
                </a:solidFill>
                <a:latin typeface="Arial" panose="020B0604020202020204" pitchFamily="34" charset="0"/>
                <a:cs typeface="Arial" panose="020B0604020202020204" pitchFamily="34" charset="0"/>
              </a:rPr>
              <a:t> text </a:t>
            </a:r>
            <a:r>
              <a:rPr lang="en-US" dirty="0" err="1">
                <a:solidFill>
                  <a:schemeClr val="tx1"/>
                </a:solidFill>
                <a:latin typeface="Arial" panose="020B0604020202020204" pitchFamily="34" charset="0"/>
                <a:cs typeface="Arial" panose="020B0604020202020204" pitchFamily="34" charset="0"/>
              </a:rPr>
              <a:t>nhập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dài</a:t>
            </a:r>
            <a:r>
              <a:rPr lang="en-US" dirty="0">
                <a:solidFill>
                  <a:schemeClr val="tx1"/>
                </a:solidFill>
                <a:latin typeface="Arial" panose="020B0604020202020204" pitchFamily="34" charset="0"/>
                <a:cs typeface="Arial" panose="020B0604020202020204" pitchFamily="34" charset="0"/>
              </a:rPr>
              <a:t> text ở backend </a:t>
            </a:r>
            <a:r>
              <a:rPr lang="en-US" dirty="0" err="1">
                <a:solidFill>
                  <a:schemeClr val="tx1"/>
                </a:solidFill>
                <a:latin typeface="Arial" panose="020B0604020202020204" pitchFamily="34" charset="0"/>
                <a:cs typeface="Arial" panose="020B0604020202020204" pitchFamily="34" charset="0"/>
              </a:rPr>
              <a:t>đối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với</a:t>
            </a:r>
            <a:r>
              <a:rPr lang="en-US" dirty="0">
                <a:solidFill>
                  <a:schemeClr val="tx1"/>
                </a:solidFill>
                <a:latin typeface="Arial" panose="020B0604020202020204" pitchFamily="34" charset="0"/>
                <a:cs typeface="Arial" panose="020B0604020202020204" pitchFamily="34" charset="0"/>
              </a:rPr>
              <a:t> file (</a:t>
            </a:r>
            <a:r>
              <a:rPr lang="en-US" dirty="0" err="1">
                <a:solidFill>
                  <a:schemeClr val="tx1"/>
                </a:solidFill>
                <a:latin typeface="Arial" panose="020B0604020202020204" pitchFamily="34" charset="0"/>
                <a:cs typeface="Arial" panose="020B0604020202020204" pitchFamily="34" charset="0"/>
              </a:rPr>
              <a:t>ch</a:t>
            </a:r>
            <a:r>
              <a:rPr lang="vi-VN" dirty="0">
                <a:solidFill>
                  <a:schemeClr val="tx1"/>
                </a:solidFill>
                <a:latin typeface="Arial" panose="020B0604020202020204" pitchFamily="34" charset="0"/>
                <a:cs typeface="Arial" panose="020B0604020202020204" pitchFamily="34" charset="0"/>
              </a:rPr>
              <a:t>ư</a:t>
            </a:r>
            <a:r>
              <a:rPr lang="en-US" dirty="0">
                <a:solidFill>
                  <a:schemeClr val="tx1"/>
                </a:solidFill>
                <a:latin typeface="Arial" panose="020B0604020202020204" pitchFamily="34" charset="0"/>
                <a:cs typeface="Arial" panose="020B0604020202020204" pitchFamily="34" charset="0"/>
              </a:rPr>
              <a:t>a </a:t>
            </a:r>
            <a:r>
              <a:rPr lang="en-US" dirty="0" err="1">
                <a:solidFill>
                  <a:schemeClr val="tx1"/>
                </a:solidFill>
                <a:latin typeface="Arial" panose="020B0604020202020204" pitchFamily="34" charset="0"/>
                <a:cs typeface="Arial" panose="020B0604020202020204" pitchFamily="34" charset="0"/>
              </a:rPr>
              <a:t>xử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lý</a:t>
            </a:r>
            <a:r>
              <a:rPr lang="en-US" dirty="0">
                <a:solidFill>
                  <a:schemeClr val="tx1"/>
                </a:solidFill>
              </a:rPr>
              <a:t>)</a:t>
            </a:r>
          </a:p>
        </p:txBody>
      </p:sp>
    </p:spTree>
    <p:extLst>
      <p:ext uri="{BB962C8B-B14F-4D97-AF65-F5344CB8AC3E}">
        <p14:creationId xmlns:p14="http://schemas.microsoft.com/office/powerpoint/2010/main" val="1746736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8480151" cy="677108"/>
          </a:xfrm>
          <a:prstGeom prst="rect">
            <a:avLst/>
          </a:prstGeom>
          <a:noFill/>
        </p:spPr>
        <p:txBody>
          <a:bodyPr wrap="square" rtlCol="0">
            <a:spAutoFit/>
          </a:bodyPr>
          <a:lstStyle/>
          <a:p>
            <a:pPr algn="ctr"/>
            <a:r>
              <a:rPr lang="en-US" sz="3800" b="1" dirty="0">
                <a:solidFill>
                  <a:srgbClr val="FF0000"/>
                </a:solidFill>
              </a:rPr>
              <a:t>CHỨC NĂNG GỢI Ý CÔNG VIỆC BẰNG AI</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4C6250D0-2D79-48D1-B3E7-1290BD343B8F}"/>
              </a:ext>
            </a:extLst>
          </p:cNvPr>
          <p:cNvSpPr/>
          <p:nvPr/>
        </p:nvSpPr>
        <p:spPr>
          <a:xfrm>
            <a:off x="612455" y="853412"/>
            <a:ext cx="4749658" cy="4996971"/>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Ý t</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ởng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trên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thuyết</a:t>
            </a:r>
            <a:r>
              <a:rPr lang="en-US" dirty="0">
                <a:solidFill>
                  <a:schemeClr val="tx1"/>
                </a:solidFill>
                <a:latin typeface="Arial" panose="020B0604020202020204" pitchFamily="34" charset="0"/>
                <a:cs typeface="Arial" panose="020B0604020202020204" pitchFamily="34" charset="0"/>
              </a:rPr>
              <a:t>:</a:t>
            </a:r>
          </a:p>
          <a:p>
            <a:pPr marL="285750" indent="-285750">
              <a:buFontTx/>
              <a:buChar char="-"/>
            </a:pPr>
            <a:r>
              <a:rPr lang="en-US" dirty="0" err="1">
                <a:solidFill>
                  <a:schemeClr val="tx1"/>
                </a:solidFill>
                <a:latin typeface="Arial" panose="020B0604020202020204" pitchFamily="34" charset="0"/>
                <a:cs typeface="Arial" panose="020B0604020202020204" pitchFamily="34" charset="0"/>
              </a:rPr>
              <a:t>Mỗi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mỗi</a:t>
            </a:r>
            <a:r>
              <a:rPr lang="en-US" dirty="0">
                <a:solidFill>
                  <a:schemeClr val="tx1"/>
                </a:solidFill>
                <a:latin typeface="Arial" panose="020B0604020202020204" pitchFamily="34" charset="0"/>
                <a:cs typeface="Arial" panose="020B0604020202020204" pitchFamily="34" charset="0"/>
              </a:rPr>
              <a:t> ng</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dùng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có</a:t>
            </a:r>
            <a:r>
              <a:rPr lang="en-US" dirty="0">
                <a:solidFill>
                  <a:schemeClr val="tx1"/>
                </a:solidFill>
                <a:latin typeface="Arial" panose="020B0604020202020204" pitchFamily="34" charset="0"/>
                <a:cs typeface="Arial" panose="020B0604020202020204" pitchFamily="34" charset="0"/>
              </a:rPr>
              <a:t> 1 vector embedding </a:t>
            </a:r>
            <a:r>
              <a:rPr lang="en-US" dirty="0" err="1">
                <a:solidFill>
                  <a:schemeClr val="tx1"/>
                </a:solidFill>
                <a:latin typeface="Arial" panose="020B0604020202020204" pitchFamily="34" charset="0"/>
                <a:cs typeface="Arial" panose="020B0604020202020204" pitchFamily="34" charset="0"/>
              </a:rPr>
              <a:t>riêng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sẽ</a:t>
            </a:r>
            <a:r>
              <a:rPr lang="en-US" dirty="0">
                <a:solidFill>
                  <a:schemeClr val="tx1"/>
                </a:solidFill>
                <a:latin typeface="Arial" panose="020B0604020202020204" pitchFamily="34" charset="0"/>
                <a:cs typeface="Arial" panose="020B0604020202020204" pitchFamily="34" charset="0"/>
              </a:rPr>
              <a:t> đ</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ợc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mỗi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khi</a:t>
            </a:r>
            <a:r>
              <a:rPr lang="en-US" dirty="0">
                <a:solidFill>
                  <a:schemeClr val="tx1"/>
                </a:solidFill>
                <a:latin typeface="Arial" panose="020B0604020202020204" pitchFamily="34" charset="0"/>
                <a:cs typeface="Arial" panose="020B0604020202020204" pitchFamily="34" charset="0"/>
              </a:rPr>
              <a:t> ng</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dùng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thay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đổi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profile </a:t>
            </a:r>
            <a:r>
              <a:rPr lang="en-US" dirty="0" err="1">
                <a:solidFill>
                  <a:schemeClr val="tx1"/>
                </a:solidFill>
                <a:latin typeface="Arial" panose="020B0604020202020204" pitchFamily="34" charset="0"/>
                <a:cs typeface="Arial" panose="020B0604020202020204" pitchFamily="34" charset="0"/>
              </a:rPr>
              <a:t>hoặc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tuyển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dụng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thay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đổi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a:t>
            </a:r>
          </a:p>
          <a:p>
            <a:pPr marL="285750" indent="-285750">
              <a:buFontTx/>
              <a:buChar char="-"/>
            </a:pPr>
            <a:r>
              <a:rPr lang="en-US" dirty="0" err="1">
                <a:solidFill>
                  <a:schemeClr val="tx1"/>
                </a:solidFill>
                <a:latin typeface="Arial" panose="020B0604020202020204" pitchFamily="34" charset="0"/>
                <a:cs typeface="Arial" panose="020B0604020202020204" pitchFamily="34" charset="0"/>
              </a:rPr>
              <a:t>Khi</a:t>
            </a:r>
            <a:r>
              <a:rPr lang="en-US" dirty="0">
                <a:solidFill>
                  <a:schemeClr val="tx1"/>
                </a:solidFill>
                <a:latin typeface="Arial" panose="020B0604020202020204" pitchFamily="34" charset="0"/>
                <a:cs typeface="Arial" panose="020B0604020202020204" pitchFamily="34" charset="0"/>
              </a:rPr>
              <a:t> ng</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dùng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chọn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chức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năng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đó</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hệ</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thống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xử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consine</a:t>
            </a:r>
            <a:r>
              <a:rPr lang="en-US" dirty="0">
                <a:solidFill>
                  <a:schemeClr val="tx1"/>
                </a:solidFill>
                <a:latin typeface="Arial" panose="020B0604020202020204" pitchFamily="34" charset="0"/>
                <a:cs typeface="Arial" panose="020B0604020202020204" pitchFamily="34" charset="0"/>
              </a:rPr>
              <a:t> similarity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vector embedding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ng</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dùng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(đ</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ợc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sau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mỗi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lần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thay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đổi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trả</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về</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kết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quả</a:t>
            </a:r>
            <a:r>
              <a:rPr lang="en-US" dirty="0">
                <a:solidFill>
                  <a:schemeClr val="tx1"/>
                </a:solidFill>
                <a:latin typeface="Arial" panose="020B0604020202020204" pitchFamily="34" charset="0"/>
                <a:cs typeface="Arial" panose="020B0604020202020204" pitchFamily="34" charset="0"/>
              </a:rPr>
              <a:t> t</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ơng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đồng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nhất</a:t>
            </a:r>
            <a:r>
              <a:rPr lang="en-US" dirty="0">
                <a:solidFill>
                  <a:schemeClr val="tx1"/>
                </a:solidFill>
                <a:latin typeface="Arial" panose="020B0604020202020204" pitchFamily="34" charset="0"/>
                <a:cs typeface="Arial" panose="020B0604020202020204" pitchFamily="34" charset="0"/>
              </a:rPr>
              <a:t>.</a:t>
            </a:r>
          </a:p>
          <a:p>
            <a:pPr marL="285750" indent="-285750">
              <a:buFontTx/>
              <a:buChar char="-"/>
            </a:pPr>
            <a:endParaRPr lang="en-US" dirty="0">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89140BD-9C76-49E8-B61D-3D9504D3655A}"/>
              </a:ext>
            </a:extLst>
          </p:cNvPr>
          <p:cNvSpPr/>
          <p:nvPr/>
        </p:nvSpPr>
        <p:spPr>
          <a:xfrm>
            <a:off x="6829889" y="853412"/>
            <a:ext cx="4749657" cy="4996972"/>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Hiện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thực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tại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ứng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dụng</a:t>
            </a:r>
            <a:r>
              <a:rPr lang="en-US" dirty="0">
                <a:solidFill>
                  <a:schemeClr val="tx1"/>
                </a:solidFill>
                <a:latin typeface="Arial" panose="020B0604020202020204" pitchFamily="34" charset="0"/>
                <a:cs typeface="Arial" panose="020B0604020202020204" pitchFamily="34" charset="0"/>
              </a:rPr>
              <a:t>:</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vector </a:t>
            </a:r>
            <a:r>
              <a:rPr lang="en-US" dirty="0" err="1">
                <a:solidFill>
                  <a:schemeClr val="tx1"/>
                </a:solidFill>
                <a:latin typeface="Arial" panose="020B0604020202020204" pitchFamily="34" charset="0"/>
                <a:cs typeface="Arial" panose="020B0604020202020204" pitchFamily="34" charset="0"/>
              </a:rPr>
              <a:t>embbeding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đã</a:t>
            </a:r>
            <a:r>
              <a:rPr lang="en-US" dirty="0">
                <a:solidFill>
                  <a:schemeClr val="tx1"/>
                </a:solidFill>
                <a:latin typeface="Arial" panose="020B0604020202020204" pitchFamily="34" charset="0"/>
                <a:cs typeface="Arial" panose="020B0604020202020204" pitchFamily="34" charset="0"/>
              </a:rPr>
              <a:t> đ</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ợc</a:t>
            </a:r>
            <a:r>
              <a:rPr lang="en-US" dirty="0">
                <a:solidFill>
                  <a:schemeClr val="tx1"/>
                </a:solidFill>
                <a:latin typeface="Arial" panose="020B0604020202020204" pitchFamily="34" charset="0"/>
                <a:cs typeface="Arial" panose="020B0604020202020204" pitchFamily="34" charset="0"/>
              </a:rPr>
              <a:t> embedding </a:t>
            </a:r>
            <a:r>
              <a:rPr lang="en-US" dirty="0" err="1">
                <a:solidFill>
                  <a:schemeClr val="tx1"/>
                </a:solidFill>
                <a:latin typeface="Arial" panose="020B0604020202020204" pitchFamily="34" charset="0"/>
                <a:cs typeface="Arial" panose="020B0604020202020204" pitchFamily="34" charset="0"/>
              </a:rPr>
              <a:t>sẵn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l</a:t>
            </a:r>
            <a:r>
              <a:rPr lang="vi-VN" dirty="0">
                <a:solidFill>
                  <a:schemeClr val="tx1"/>
                </a:solidFill>
                <a:latin typeface="Arial" panose="020B0604020202020204" pitchFamily="34" charset="0"/>
                <a:cs typeface="Arial" panose="020B0604020202020204" pitchFamily="34" charset="0"/>
              </a:rPr>
              <a:t>ư</a:t>
            </a:r>
            <a:r>
              <a:rPr lang="en-US" dirty="0">
                <a:solidFill>
                  <a:schemeClr val="tx1"/>
                </a:solidFill>
                <a:latin typeface="Arial" panose="020B0604020202020204" pitchFamily="34" charset="0"/>
                <a:cs typeface="Arial" panose="020B0604020202020204" pitchFamily="34" charset="0"/>
              </a:rPr>
              <a:t>u </a:t>
            </a:r>
            <a:r>
              <a:rPr lang="en-US" dirty="0" err="1">
                <a:solidFill>
                  <a:schemeClr val="tx1"/>
                </a:solidFill>
                <a:latin typeface="Arial" panose="020B0604020202020204" pitchFamily="34" charset="0"/>
                <a:cs typeface="Arial" panose="020B0604020202020204" pitchFamily="34" charset="0"/>
              </a:rPr>
              <a:t>trong</a:t>
            </a:r>
            <a:r>
              <a:rPr lang="en-US" dirty="0">
                <a:solidFill>
                  <a:schemeClr val="tx1"/>
                </a:solidFill>
                <a:latin typeface="Arial" panose="020B0604020202020204" pitchFamily="34" charset="0"/>
                <a:cs typeface="Arial" panose="020B0604020202020204" pitchFamily="34" charset="0"/>
              </a:rPr>
              <a:t> database. (</a:t>
            </a:r>
            <a:r>
              <a:rPr lang="en-US" dirty="0" err="1">
                <a:solidFill>
                  <a:schemeClr val="tx1"/>
                </a:solidFill>
                <a:latin typeface="Arial" panose="020B0604020202020204" pitchFamily="34" charset="0"/>
                <a:cs typeface="Arial" panose="020B0604020202020204" pitchFamily="34" charset="0"/>
              </a:rPr>
              <a:t>vì</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vậy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khi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vector </a:t>
            </a:r>
            <a:r>
              <a:rPr lang="en-US" dirty="0" err="1">
                <a:solidFill>
                  <a:schemeClr val="tx1"/>
                </a:solidFill>
                <a:latin typeface="Arial" panose="020B0604020202020204" pitchFamily="34" charset="0"/>
                <a:cs typeface="Arial" panose="020B0604020202020204" pitchFamily="34" charset="0"/>
              </a:rPr>
              <a:t>embbeding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vẫn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giữ</a:t>
            </a:r>
            <a:r>
              <a:rPr lang="en-US" dirty="0">
                <a:solidFill>
                  <a:schemeClr val="tx1"/>
                </a:solidFill>
                <a:latin typeface="Arial" panose="020B0604020202020204" pitchFamily="34" charset="0"/>
                <a:cs typeface="Arial" panose="020B0604020202020204" pitchFamily="34" charset="0"/>
              </a:rPr>
              <a:t> tr</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cũ</a:t>
            </a:r>
            <a:r>
              <a:rPr lang="en-US" dirty="0">
                <a:solidFill>
                  <a:schemeClr val="tx1"/>
                </a:solidFill>
                <a:latin typeface="Arial" panose="020B0604020202020204" pitchFamily="34" charset="0"/>
                <a:cs typeface="Arial" panose="020B0604020202020204" pitchFamily="34" charset="0"/>
              </a:rPr>
              <a:t>)</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Khi</a:t>
            </a:r>
            <a:r>
              <a:rPr lang="en-US" dirty="0">
                <a:solidFill>
                  <a:schemeClr val="tx1"/>
                </a:solidFill>
                <a:latin typeface="Arial" panose="020B0604020202020204" pitchFamily="34" charset="0"/>
                <a:cs typeface="Arial" panose="020B0604020202020204" pitchFamily="34" charset="0"/>
              </a:rPr>
              <a:t> ng</a:t>
            </a:r>
            <a:r>
              <a:rPr lang="vi-VN" dirty="0">
                <a:solidFill>
                  <a:schemeClr val="tx1"/>
                </a:solidFill>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dùng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chọn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chức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năng,hệ</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thống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sẽ</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lấy</a:t>
            </a:r>
            <a:r>
              <a:rPr lang="en-US" dirty="0">
                <a:solidFill>
                  <a:schemeClr val="tx1"/>
                </a:solidFill>
                <a:latin typeface="Arial" panose="020B0604020202020204" pitchFamily="34" charset="0"/>
                <a:cs typeface="Arial" panose="020B0604020202020204" pitchFamily="34" charset="0"/>
              </a:rPr>
              <a:t> vector embedding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tại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thời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đó</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consine</a:t>
            </a:r>
            <a:r>
              <a:rPr lang="en-US" dirty="0">
                <a:solidFill>
                  <a:schemeClr val="tx1"/>
                </a:solidFill>
                <a:latin typeface="Arial" panose="020B0604020202020204" pitchFamily="34" charset="0"/>
                <a:cs typeface="Arial" panose="020B0604020202020204" pitchFamily="34" charset="0"/>
              </a:rPr>
              <a:t> similarity </a:t>
            </a:r>
            <a:r>
              <a:rPr lang="en-US" dirty="0" err="1">
                <a:solidFill>
                  <a:schemeClr val="tx1"/>
                </a:solidFill>
                <a:latin typeface="Arial" panose="020B0604020202020204" pitchFamily="34" charset="0"/>
                <a:cs typeface="Arial" panose="020B0604020202020204" pitchFamily="34" charset="0"/>
              </a:rPr>
              <a:t>với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vector </a:t>
            </a:r>
            <a:r>
              <a:rPr lang="en-US" dirty="0" err="1">
                <a:solidFill>
                  <a:schemeClr val="tx1"/>
                </a:solidFill>
                <a:latin typeface="Arial" panose="020B0604020202020204" pitchFamily="34" charset="0"/>
                <a:cs typeface="Arial" panose="020B0604020202020204" pitchFamily="34" charset="0"/>
              </a:rPr>
              <a:t>embbeding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có</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sẵn</a:t>
            </a:r>
            <a:r>
              <a:rPr lang="en-US" dirty="0">
                <a:solidFill>
                  <a:schemeClr val="tx1"/>
                </a:solidFill>
                <a:latin typeface="Arial" panose="020B0604020202020204" pitchFamily="34" charset="0"/>
                <a:cs typeface="Arial" panose="020B0604020202020204" pitchFamily="34" charset="0"/>
              </a:rPr>
              <a:t>.</a:t>
            </a:r>
          </a:p>
          <a:p>
            <a:r>
              <a:rPr lang="en-US" dirty="0">
                <a:solidFill>
                  <a:schemeClr val="tx1"/>
                </a:solidFill>
                <a:latin typeface="Arial" panose="020B0604020202020204" pitchFamily="34" charset="0"/>
                <a:cs typeface="Arial" panose="020B0604020202020204" pitchFamily="34" charset="0"/>
              </a:rPr>
              <a:t>=&gt; </a:t>
            </a:r>
            <a:r>
              <a:rPr lang="en-US" dirty="0" err="1">
                <a:solidFill>
                  <a:schemeClr val="tx1"/>
                </a:solidFill>
                <a:latin typeface="Arial" panose="020B0604020202020204" pitchFamily="34" charset="0"/>
                <a:cs typeface="Arial" panose="020B0604020202020204" pitchFamily="34" charset="0"/>
              </a:rPr>
              <a:t>Nhược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điểm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không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có</a:t>
            </a:r>
            <a:r>
              <a:rPr lang="en-US" dirty="0">
                <a:solidFill>
                  <a:schemeClr val="tx1"/>
                </a:solidFill>
                <a:latin typeface="Arial" panose="020B0604020202020204" pitchFamily="34" charset="0"/>
                <a:cs typeface="Arial" panose="020B0604020202020204" pitchFamily="34" charset="0"/>
              </a:rPr>
              <a:t> tr</a:t>
            </a:r>
            <a:r>
              <a:rPr lang="vi-VN" dirty="0">
                <a:solidFill>
                  <a:schemeClr val="tx1"/>
                </a:solidFill>
                <a:latin typeface="Arial" panose="020B0604020202020204" pitchFamily="34" charset="0"/>
                <a:cs typeface="Arial" panose="020B0604020202020204" pitchFamily="34" charset="0"/>
              </a:rPr>
              <a:t>ư</a:t>
            </a:r>
            <a:r>
              <a:rPr lang="en-US" dirty="0" err="1">
                <a:solidFill>
                  <a:schemeClr val="tx1"/>
                </a:solidFill>
                <a:latin typeface="Arial" panose="020B0604020202020204" pitchFamily="34" charset="0"/>
                <a:cs typeface="Arial" panose="020B0604020202020204" pitchFamily="34" charset="0"/>
              </a:rPr>
              <a:t>ờng</a:t>
            </a:r>
            <a:r>
              <a:rPr lang="en-US" dirty="0">
                <a:solidFill>
                  <a:schemeClr val="tx1"/>
                </a:solidFill>
                <a:latin typeface="Arial" panose="020B0604020202020204" pitchFamily="34" charset="0"/>
                <a:cs typeface="Arial" panose="020B0604020202020204" pitchFamily="34" charset="0"/>
              </a:rPr>
              <a:t> embedding </a:t>
            </a:r>
            <a:r>
              <a:rPr lang="en-US" dirty="0" err="1">
                <a:solidFill>
                  <a:schemeClr val="tx1"/>
                </a:solidFill>
                <a:latin typeface="Arial" panose="020B0604020202020204" pitchFamily="34" charset="0"/>
                <a:cs typeface="Arial" panose="020B0604020202020204" pitchFamily="34" charset="0"/>
              </a:rPr>
              <a:t>trong</a:t>
            </a:r>
            <a:r>
              <a:rPr lang="en-US" dirty="0">
                <a:solidFill>
                  <a:schemeClr val="tx1"/>
                </a:solidFill>
                <a:latin typeface="Arial" panose="020B0604020202020204" pitchFamily="34" charset="0"/>
                <a:cs typeface="Arial" panose="020B0604020202020204" pitchFamily="34" charset="0"/>
              </a:rPr>
              <a:t> jobs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profile, </a:t>
            </a:r>
            <a:r>
              <a:rPr lang="en-US" dirty="0" err="1">
                <a:solidFill>
                  <a:schemeClr val="tx1"/>
                </a:solidFill>
                <a:latin typeface="Arial" panose="020B0604020202020204" pitchFamily="34" charset="0"/>
                <a:cs typeface="Arial" panose="020B0604020202020204" pitchFamily="34" charset="0"/>
              </a:rPr>
              <a:t>chỉ</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có</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bảng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embbeding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từng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=&gt; </a:t>
            </a:r>
            <a:r>
              <a:rPr lang="en-US" dirty="0" err="1">
                <a:solidFill>
                  <a:schemeClr val="tx1"/>
                </a:solidFill>
                <a:latin typeface="Arial" panose="020B0604020202020204" pitchFamily="34" charset="0"/>
                <a:cs typeface="Arial" panose="020B0604020202020204" pitchFamily="34" charset="0"/>
              </a:rPr>
              <a:t>Mục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đích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tránh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việc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gọi</a:t>
            </a:r>
            <a:r>
              <a:rPr lang="en-US" dirty="0">
                <a:solidFill>
                  <a:schemeClr val="tx1"/>
                </a:solidFill>
                <a:latin typeface="Arial" panose="020B0604020202020204" pitchFamily="34" charset="0"/>
                <a:cs typeface="Arial" panose="020B0604020202020204" pitchFamily="34" charset="0"/>
              </a:rPr>
              <a:t> API AI </a:t>
            </a:r>
            <a:r>
              <a:rPr lang="en-US" dirty="0" err="1">
                <a:solidFill>
                  <a:schemeClr val="tx1"/>
                </a:solidFill>
                <a:latin typeface="Arial" panose="020B0604020202020204" pitchFamily="34" charset="0"/>
                <a:cs typeface="Arial" panose="020B0604020202020204" pitchFamily="34" charset="0"/>
              </a:rPr>
              <a:t>quá</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nhiều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sau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mỗi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lần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cập</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nhật</a:t>
            </a:r>
            <a:r>
              <a:rPr lang="en-US" dirty="0">
                <a:solidFill>
                  <a:schemeClr val="tx1"/>
                </a:solidFill>
                <a:latin typeface="Arial" panose="020B0604020202020204" pitchFamily="34" charset="0"/>
                <a:cs typeface="Arial" panose="020B0604020202020204" pitchFamily="34" charset="0"/>
              </a:rPr>
              <a:t> =&gt; </a:t>
            </a:r>
            <a:r>
              <a:rPr lang="en-US" dirty="0" err="1">
                <a:solidFill>
                  <a:schemeClr val="tx1"/>
                </a:solidFill>
                <a:latin typeface="Arial" panose="020B0604020202020204" pitchFamily="34" charset="0"/>
                <a:cs typeface="Arial" panose="020B0604020202020204" pitchFamily="34" charset="0"/>
              </a:rPr>
              <a:t>giảm</a:t>
            </a:r>
            <a:r>
              <a:rPr lang="en-US" dirty="0">
                <a:solidFill>
                  <a:schemeClr val="tx1"/>
                </a:solidFill>
                <a:latin typeface="Arial" panose="020B0604020202020204" pitchFamily="34" charset="0"/>
                <a:cs typeface="Arial" panose="020B0604020202020204" pitchFamily="34" charset="0"/>
              </a:rPr>
              <a:t> chi </a:t>
            </a:r>
            <a:r>
              <a:rPr lang="en-US" dirty="0" err="1">
                <a:solidFill>
                  <a:schemeClr val="tx1"/>
                </a:solidFill>
                <a:latin typeface="Arial" panose="020B0604020202020204" pitchFamily="34" charset="0"/>
                <a:cs typeface="Arial" panose="020B0604020202020204" pitchFamily="34" charset="0"/>
              </a:rPr>
              <a:t>phí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quy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mô</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Đồ</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môn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học</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84972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590303" y="84452"/>
            <a:ext cx="8480151" cy="677108"/>
          </a:xfrm>
          <a:prstGeom prst="rect">
            <a:avLst/>
          </a:prstGeom>
          <a:noFill/>
        </p:spPr>
        <p:txBody>
          <a:bodyPr wrap="square" rtlCol="0">
            <a:spAutoFit/>
          </a:bodyPr>
          <a:lstStyle/>
          <a:p>
            <a:pPr algn="ctr"/>
            <a:r>
              <a:rPr lang="en-US" sz="3800" b="1" dirty="0">
                <a:solidFill>
                  <a:srgbClr val="FF0000"/>
                </a:solidFill>
              </a:rPr>
              <a:t>CHỨC NĂNG GỢI Ý CÔNG VIỆC BẰNG AI</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4C6250D0-2D79-48D1-B3E7-1290BD343B8F}"/>
              </a:ext>
            </a:extLst>
          </p:cNvPr>
          <p:cNvSpPr/>
          <p:nvPr/>
        </p:nvSpPr>
        <p:spPr>
          <a:xfrm>
            <a:off x="621333" y="853412"/>
            <a:ext cx="10289324" cy="4996971"/>
          </a:xfrm>
          <a:prstGeom prst="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latin typeface="Arial" panose="020B0604020202020204" pitchFamily="34" charset="0"/>
                <a:cs typeface="Arial" panose="020B0604020202020204" pitchFamily="34" charset="0"/>
              </a:rPr>
              <a:t>Embbeding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chuyển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dữ</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liệu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thành</a:t>
            </a:r>
            <a:r>
              <a:rPr lang="en-US" dirty="0">
                <a:solidFill>
                  <a:schemeClr val="tx1"/>
                </a:solidFill>
                <a:latin typeface="Arial" panose="020B0604020202020204" pitchFamily="34" charset="0"/>
                <a:cs typeface="Arial" panose="020B0604020202020204" pitchFamily="34" charset="0"/>
              </a:rPr>
              <a:t> vector </a:t>
            </a:r>
          </a:p>
          <a:p>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Tìm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kiếm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ngữ</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nghĩa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thay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vì</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tìm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kiếm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tuần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tự</a:t>
            </a:r>
            <a:r>
              <a:rPr lang="en-US" dirty="0">
                <a:solidFill>
                  <a:schemeClr val="tx1"/>
                </a:solidFill>
                <a:latin typeface="Arial" panose="020B0604020202020204" pitchFamily="34" charset="0"/>
                <a:cs typeface="Arial" panose="020B0604020202020204" pitchFamily="34" charset="0"/>
              </a:rPr>
              <a:t> ( cosine similarity</a:t>
            </a:r>
            <a:r>
              <a:rPr lang="en-US" dirty="0" smtClean="0">
                <a:solidFill>
                  <a:schemeClr val="tx1"/>
                </a:solidFill>
                <a:latin typeface="Arial" panose="020B0604020202020204" pitchFamily="34" charset="0"/>
                <a:cs typeface="Arial" panose="020B0604020202020204" pitchFamily="34" charset="0"/>
              </a:rPr>
              <a:t>) – </a:t>
            </a:r>
            <a:r>
              <a:rPr lang="en-US" dirty="0" err="1" smtClean="0">
                <a:solidFill>
                  <a:schemeClr val="tx1"/>
                </a:solidFill>
                <a:latin typeface="Arial" panose="020B0604020202020204" pitchFamily="34" charset="0"/>
                <a:cs typeface="Arial" panose="020B0604020202020204" pitchFamily="34" charset="0"/>
              </a:rPr>
              <a:t>trả</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đc</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về</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kết</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quả</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thay</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vì</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có</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thể</a:t>
            </a:r>
            <a:r>
              <a:rPr lang="en-US" dirty="0" smtClean="0">
                <a:solidFill>
                  <a:schemeClr val="tx1"/>
                </a:solidFill>
                <a:latin typeface="Arial" panose="020B0604020202020204" pitchFamily="34" charset="0"/>
                <a:cs typeface="Arial" panose="020B0604020202020204" pitchFamily="34" charset="0"/>
              </a:rPr>
              <a:t> null </a:t>
            </a:r>
            <a:r>
              <a:rPr lang="en-US" dirty="0" err="1" smtClean="0">
                <a:solidFill>
                  <a:schemeClr val="tx1"/>
                </a:solidFill>
                <a:latin typeface="Arial" panose="020B0604020202020204" pitchFamily="34" charset="0"/>
                <a:cs typeface="Arial" panose="020B0604020202020204" pitchFamily="34" charset="0"/>
              </a:rPr>
              <a:t>như</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tìm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kiếm</a:t>
            </a:r>
            <a:r>
              <a:rPr lang="en-US" dirty="0" smtClean="0">
                <a:solidFill>
                  <a:schemeClr val="tx1"/>
                </a:solidFill>
                <a:latin typeface="Arial" panose="020B0604020202020204" pitchFamily="34" charset="0"/>
                <a:cs typeface="Arial" panose="020B0604020202020204" pitchFamily="34" charset="0"/>
              </a:rPr>
              <a:t> </a:t>
            </a:r>
            <a:r>
              <a:rPr lang="en-US" dirty="0" err="1" smtClean="0">
                <a:solidFill>
                  <a:schemeClr val="tx1"/>
                </a:solidFill>
                <a:latin typeface="Arial" panose="020B0604020202020204" pitchFamily="34" charset="0"/>
                <a:cs typeface="Arial" panose="020B0604020202020204" pitchFamily="34" charset="0"/>
              </a:rPr>
              <a:t>bằng</a:t>
            </a:r>
            <a:r>
              <a:rPr lang="en-US" smtClean="0">
                <a:solidFill>
                  <a:schemeClr val="tx1"/>
                </a:solidFill>
                <a:latin typeface="Arial" panose="020B0604020202020204" pitchFamily="34" charset="0"/>
                <a:cs typeface="Arial" panose="020B0604020202020204" pitchFamily="34" charset="0"/>
              </a:rPr>
              <a:t> keyword</a:t>
            </a:r>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Tăng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tốc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tìm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kiếm</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theo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cụm</a:t>
            </a:r>
            <a:r>
              <a:rPr lang="en-US" dirty="0">
                <a:solidFill>
                  <a:schemeClr val="tx1"/>
                </a:solidFill>
                <a:latin typeface="Arial" panose="020B0604020202020204" pitchFamily="34" charset="0"/>
                <a:cs typeface="Arial" panose="020B0604020202020204" pitchFamily="34" charset="0"/>
              </a:rPr>
              <a:t>)</a:t>
            </a:r>
          </a:p>
          <a:p>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Chatbox</a:t>
            </a:r>
            <a:r>
              <a:rPr lang="en-US" dirty="0">
                <a:solidFill>
                  <a:schemeClr val="tx1"/>
                </a:solidFill>
                <a:latin typeface="Arial" panose="020B0604020202020204" pitchFamily="34" charset="0"/>
                <a:cs typeface="Arial" panose="020B0604020202020204" pitchFamily="34" charset="0"/>
              </a:rPr>
              <a:t> (rag)</a:t>
            </a:r>
          </a:p>
          <a:p>
            <a:pPr marL="285750" indent="-285750">
              <a:buFontTx/>
              <a:buChar char="-"/>
            </a:pP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6682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1281343" y="84452"/>
            <a:ext cx="9789111" cy="677108"/>
          </a:xfrm>
          <a:prstGeom prst="rect">
            <a:avLst/>
          </a:prstGeom>
          <a:noFill/>
        </p:spPr>
        <p:txBody>
          <a:bodyPr wrap="square" rtlCol="0">
            <a:spAutoFit/>
          </a:bodyPr>
          <a:lstStyle/>
          <a:p>
            <a:pPr algn="ctr"/>
            <a:r>
              <a:rPr lang="en-US" sz="3800" b="1" dirty="0">
                <a:solidFill>
                  <a:srgbClr val="FF0000"/>
                </a:solidFill>
              </a:rPr>
              <a:t>Test </a:t>
            </a:r>
            <a:r>
              <a:rPr lang="en-US" sz="3800" b="1" dirty="0" err="1">
                <a:solidFill>
                  <a:srgbClr val="FF0000"/>
                </a:solidFill>
              </a:rPr>
              <a:t>dữ</a:t>
            </a:r>
            <a:r>
              <a:rPr lang="en-US" sz="3800" b="1" dirty="0">
                <a:solidFill>
                  <a:srgbClr val="FF0000"/>
                </a:solidFill>
              </a:rPr>
              <a:t> </a:t>
            </a:r>
            <a:r>
              <a:rPr lang="en-US" sz="3800" b="1" dirty="0" err="1">
                <a:solidFill>
                  <a:srgbClr val="FF0000"/>
                </a:solidFill>
              </a:rPr>
              <a:t>liệu</a:t>
            </a:r>
            <a:r>
              <a:rPr lang="en-US" sz="3800" b="1" dirty="0">
                <a:solidFill>
                  <a:srgbClr val="FF0000"/>
                </a:solidFill>
              </a:rPr>
              <a:t> match </a:t>
            </a:r>
            <a:r>
              <a:rPr lang="en-US" sz="3800" b="1" dirty="0" err="1">
                <a:solidFill>
                  <a:srgbClr val="FF0000"/>
                </a:solidFill>
              </a:rPr>
              <a:t>với</a:t>
            </a:r>
            <a:r>
              <a:rPr lang="en-US" sz="3800" b="1" dirty="0">
                <a:solidFill>
                  <a:srgbClr val="FF0000"/>
                </a:solidFill>
              </a:rPr>
              <a:t> </a:t>
            </a:r>
            <a:r>
              <a:rPr lang="en-US" sz="3800" b="1" dirty="0" err="1">
                <a:solidFill>
                  <a:srgbClr val="FF0000"/>
                </a:solidFill>
              </a:rPr>
              <a:t>công</a:t>
            </a:r>
            <a:r>
              <a:rPr lang="en-US" sz="3800" b="1" dirty="0">
                <a:solidFill>
                  <a:srgbClr val="FF0000"/>
                </a:solidFill>
              </a:rPr>
              <a:t> </a:t>
            </a:r>
            <a:r>
              <a:rPr lang="en-US" sz="3800" b="1" dirty="0" err="1">
                <a:solidFill>
                  <a:srgbClr val="FF0000"/>
                </a:solidFill>
              </a:rPr>
              <a:t>việc</a:t>
            </a:r>
            <a:r>
              <a:rPr lang="en-US" sz="3800" b="1" dirty="0">
                <a:solidFill>
                  <a:srgbClr val="FF0000"/>
                </a:solidFill>
              </a:rPr>
              <a:t> (</a:t>
            </a:r>
            <a:r>
              <a:rPr lang="en-US" sz="3800" b="1" dirty="0" err="1">
                <a:solidFill>
                  <a:srgbClr val="FF0000"/>
                </a:solidFill>
              </a:rPr>
              <a:t>khoảng</a:t>
            </a:r>
            <a:r>
              <a:rPr lang="en-US" sz="3800" b="1" dirty="0">
                <a:solidFill>
                  <a:srgbClr val="FF0000"/>
                </a:solidFill>
              </a:rPr>
              <a:t> 90%)</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B55CED67-E8D5-48ED-9A20-65320E158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840" y="843608"/>
            <a:ext cx="2560320" cy="5361034"/>
          </a:xfrm>
          <a:prstGeom prst="rect">
            <a:avLst/>
          </a:prstGeom>
        </p:spPr>
      </p:pic>
      <p:pic>
        <p:nvPicPr>
          <p:cNvPr id="6" name="Picture 5">
            <a:extLst>
              <a:ext uri="{FF2B5EF4-FFF2-40B4-BE49-F238E27FC236}">
                <a16:creationId xmlns:a16="http://schemas.microsoft.com/office/drawing/2014/main" id="{24676B2E-950C-47DB-BAC9-C182BD6B0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979" y="843608"/>
            <a:ext cx="2560320" cy="5361034"/>
          </a:xfrm>
          <a:prstGeom prst="rect">
            <a:avLst/>
          </a:prstGeom>
        </p:spPr>
      </p:pic>
      <p:pic>
        <p:nvPicPr>
          <p:cNvPr id="9" name="Picture 8">
            <a:extLst>
              <a:ext uri="{FF2B5EF4-FFF2-40B4-BE49-F238E27FC236}">
                <a16:creationId xmlns:a16="http://schemas.microsoft.com/office/drawing/2014/main" id="{B96B8F22-8CC3-4B3D-AFF7-11463AC5A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5118" y="843608"/>
            <a:ext cx="2560320" cy="5361034"/>
          </a:xfrm>
          <a:prstGeom prst="rect">
            <a:avLst/>
          </a:prstGeom>
        </p:spPr>
      </p:pic>
      <p:pic>
        <p:nvPicPr>
          <p:cNvPr id="11" name="Picture 10">
            <a:extLst>
              <a:ext uri="{FF2B5EF4-FFF2-40B4-BE49-F238E27FC236}">
                <a16:creationId xmlns:a16="http://schemas.microsoft.com/office/drawing/2014/main" id="{76999D43-990E-4003-8A59-88E4755D82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50257" y="853413"/>
            <a:ext cx="2560320" cy="5361034"/>
          </a:xfrm>
          <a:prstGeom prst="rect">
            <a:avLst/>
          </a:prstGeom>
        </p:spPr>
      </p:pic>
      <p:sp>
        <p:nvSpPr>
          <p:cNvPr id="12" name="TextBox 11">
            <a:extLst>
              <a:ext uri="{FF2B5EF4-FFF2-40B4-BE49-F238E27FC236}">
                <a16:creationId xmlns:a16="http://schemas.microsoft.com/office/drawing/2014/main" id="{9529C1CC-E9D4-4787-85CA-FD4CBDFA8C17}"/>
              </a:ext>
            </a:extLst>
          </p:cNvPr>
          <p:cNvSpPr txBox="1"/>
          <p:nvPr/>
        </p:nvSpPr>
        <p:spPr>
          <a:xfrm>
            <a:off x="3552093" y="6286690"/>
            <a:ext cx="5272597"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t</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cosine similarity 83/100 </a:t>
            </a:r>
            <a:r>
              <a:rPr lang="en-US" dirty="0" err="1">
                <a:latin typeface="Arial" panose="020B0604020202020204" pitchFamily="34" charset="0"/>
                <a:cs typeface="Arial" panose="020B0604020202020204" pitchFamily="34" charset="0"/>
              </a:rPr>
              <a:t>điểm</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90555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19075" y="84452"/>
            <a:ext cx="11744325" cy="1261884"/>
          </a:xfrm>
          <a:prstGeom prst="rect">
            <a:avLst/>
          </a:prstGeom>
          <a:noFill/>
        </p:spPr>
        <p:txBody>
          <a:bodyPr wrap="square" rtlCol="0">
            <a:spAutoFit/>
          </a:bodyPr>
          <a:lstStyle/>
          <a:p>
            <a:pPr algn="ctr"/>
            <a:r>
              <a:rPr lang="en-US" sz="3800" b="1" dirty="0">
                <a:solidFill>
                  <a:srgbClr val="FF0000"/>
                </a:solidFill>
              </a:rPr>
              <a:t>Test </a:t>
            </a:r>
            <a:r>
              <a:rPr lang="en-US" sz="3800" b="1" dirty="0" err="1">
                <a:solidFill>
                  <a:srgbClr val="FF0000"/>
                </a:solidFill>
              </a:rPr>
              <a:t>dữ</a:t>
            </a:r>
            <a:r>
              <a:rPr lang="en-US" sz="3800" b="1" dirty="0">
                <a:solidFill>
                  <a:srgbClr val="FF0000"/>
                </a:solidFill>
              </a:rPr>
              <a:t> </a:t>
            </a:r>
            <a:r>
              <a:rPr lang="en-US" sz="3800" b="1" dirty="0" err="1">
                <a:solidFill>
                  <a:srgbClr val="FF0000"/>
                </a:solidFill>
              </a:rPr>
              <a:t>liệu</a:t>
            </a:r>
            <a:r>
              <a:rPr lang="en-US" sz="3800" b="1" dirty="0">
                <a:solidFill>
                  <a:srgbClr val="FF0000"/>
                </a:solidFill>
              </a:rPr>
              <a:t> match </a:t>
            </a:r>
            <a:r>
              <a:rPr lang="en-US" sz="3800" b="1" dirty="0" err="1">
                <a:solidFill>
                  <a:srgbClr val="FF0000"/>
                </a:solidFill>
              </a:rPr>
              <a:t>với</a:t>
            </a:r>
            <a:r>
              <a:rPr lang="en-US" sz="3800" b="1" dirty="0">
                <a:solidFill>
                  <a:srgbClr val="FF0000"/>
                </a:solidFill>
              </a:rPr>
              <a:t> </a:t>
            </a:r>
            <a:r>
              <a:rPr lang="en-US" sz="3800" b="1" dirty="0" err="1">
                <a:solidFill>
                  <a:srgbClr val="FF0000"/>
                </a:solidFill>
              </a:rPr>
              <a:t>công</a:t>
            </a:r>
            <a:r>
              <a:rPr lang="en-US" sz="3800" b="1" dirty="0">
                <a:solidFill>
                  <a:srgbClr val="FF0000"/>
                </a:solidFill>
              </a:rPr>
              <a:t> </a:t>
            </a:r>
            <a:r>
              <a:rPr lang="en-US" sz="3800" b="1" dirty="0" err="1">
                <a:solidFill>
                  <a:srgbClr val="FF0000"/>
                </a:solidFill>
              </a:rPr>
              <a:t>việc</a:t>
            </a:r>
            <a:r>
              <a:rPr lang="en-US" sz="3800" b="1" dirty="0">
                <a:solidFill>
                  <a:srgbClr val="FF0000"/>
                </a:solidFill>
              </a:rPr>
              <a:t> (</a:t>
            </a:r>
            <a:r>
              <a:rPr lang="en-US" sz="3800" b="1" dirty="0" err="1">
                <a:solidFill>
                  <a:srgbClr val="FF0000"/>
                </a:solidFill>
              </a:rPr>
              <a:t>không</a:t>
            </a:r>
            <a:r>
              <a:rPr lang="en-US" sz="3800" b="1" dirty="0">
                <a:solidFill>
                  <a:srgbClr val="FF0000"/>
                </a:solidFill>
              </a:rPr>
              <a:t> </a:t>
            </a:r>
            <a:r>
              <a:rPr lang="en-US" sz="3800" b="1" dirty="0" err="1">
                <a:solidFill>
                  <a:srgbClr val="FF0000"/>
                </a:solidFill>
              </a:rPr>
              <a:t>liên</a:t>
            </a:r>
            <a:r>
              <a:rPr lang="en-US" sz="3800" b="1" dirty="0">
                <a:solidFill>
                  <a:srgbClr val="FF0000"/>
                </a:solidFill>
              </a:rPr>
              <a:t> </a:t>
            </a:r>
            <a:r>
              <a:rPr lang="en-US" sz="3800" b="1" dirty="0" err="1">
                <a:solidFill>
                  <a:srgbClr val="FF0000"/>
                </a:solidFill>
              </a:rPr>
              <a:t>quan</a:t>
            </a:r>
            <a:r>
              <a:rPr lang="en-US" sz="3800" b="1" dirty="0">
                <a:solidFill>
                  <a:srgbClr val="FF0000"/>
                </a:solidFill>
              </a:rPr>
              <a:t> </a:t>
            </a:r>
            <a:r>
              <a:rPr lang="en-US" sz="3800" b="1" dirty="0" err="1">
                <a:solidFill>
                  <a:srgbClr val="FF0000"/>
                </a:solidFill>
              </a:rPr>
              <a:t>bất</a:t>
            </a:r>
            <a:r>
              <a:rPr lang="en-US" sz="3800" b="1" dirty="0">
                <a:solidFill>
                  <a:srgbClr val="FF0000"/>
                </a:solidFill>
              </a:rPr>
              <a:t> </a:t>
            </a:r>
            <a:r>
              <a:rPr lang="en-US" sz="3800" b="1" dirty="0" err="1">
                <a:solidFill>
                  <a:srgbClr val="FF0000"/>
                </a:solidFill>
              </a:rPr>
              <a:t>kì</a:t>
            </a:r>
            <a:r>
              <a:rPr lang="en-US" sz="3800" b="1" dirty="0">
                <a:solidFill>
                  <a:srgbClr val="FF0000"/>
                </a:solidFill>
              </a:rPr>
              <a:t> tr</a:t>
            </a:r>
            <a:r>
              <a:rPr lang="vi-VN" sz="3800" b="1" dirty="0">
                <a:solidFill>
                  <a:srgbClr val="FF0000"/>
                </a:solidFill>
              </a:rPr>
              <a:t>ư</a:t>
            </a:r>
            <a:r>
              <a:rPr lang="en-US" sz="3800" b="1" dirty="0" err="1">
                <a:solidFill>
                  <a:srgbClr val="FF0000"/>
                </a:solidFill>
              </a:rPr>
              <a:t>ờng</a:t>
            </a:r>
            <a:r>
              <a:rPr lang="en-US" sz="3800" b="1" dirty="0">
                <a:solidFill>
                  <a:srgbClr val="FF0000"/>
                </a:solidFill>
              </a:rPr>
              <a:t> </a:t>
            </a:r>
            <a:r>
              <a:rPr lang="en-US" sz="3800" b="1" dirty="0" err="1">
                <a:solidFill>
                  <a:srgbClr val="FF0000"/>
                </a:solidFill>
              </a:rPr>
              <a:t>nào</a:t>
            </a:r>
            <a:r>
              <a:rPr lang="en-US" sz="3800" b="1" dirty="0">
                <a:solidFill>
                  <a:srgbClr val="FF0000"/>
                </a:solidFill>
              </a:rPr>
              <a:t>)</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529C1CC-E9D4-4787-85CA-FD4CBDFA8C17}"/>
              </a:ext>
            </a:extLst>
          </p:cNvPr>
          <p:cNvSpPr txBox="1"/>
          <p:nvPr/>
        </p:nvSpPr>
        <p:spPr>
          <a:xfrm>
            <a:off x="3454938" y="6286690"/>
            <a:ext cx="6106223"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lỗi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(Model AI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đ</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ợc</a:t>
            </a:r>
            <a:r>
              <a:rPr lang="en-US" dirty="0">
                <a:latin typeface="Arial" panose="020B0604020202020204" pitchFamily="34" charset="0"/>
                <a:cs typeface="Arial" panose="020B0604020202020204" pitchFamily="34" charset="0"/>
              </a:rPr>
              <a:t>)</a:t>
            </a:r>
          </a:p>
        </p:txBody>
      </p:sp>
      <p:pic>
        <p:nvPicPr>
          <p:cNvPr id="4" name="Picture 3">
            <a:extLst>
              <a:ext uri="{FF2B5EF4-FFF2-40B4-BE49-F238E27FC236}">
                <a16:creationId xmlns:a16="http://schemas.microsoft.com/office/drawing/2014/main" id="{BE473F97-86EF-4647-808C-D6F236B4825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239804" y="1400474"/>
            <a:ext cx="2194560" cy="4595172"/>
          </a:xfrm>
          <a:prstGeom prst="rect">
            <a:avLst/>
          </a:prstGeom>
        </p:spPr>
      </p:pic>
      <p:pic>
        <p:nvPicPr>
          <p:cNvPr id="10" name="Picture 9">
            <a:extLst>
              <a:ext uri="{FF2B5EF4-FFF2-40B4-BE49-F238E27FC236}">
                <a16:creationId xmlns:a16="http://schemas.microsoft.com/office/drawing/2014/main" id="{3078538C-F1DF-46AD-AA96-E962768A600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906382" y="1398650"/>
            <a:ext cx="2194560" cy="4595172"/>
          </a:xfrm>
          <a:prstGeom prst="rect">
            <a:avLst/>
          </a:prstGeom>
        </p:spPr>
      </p:pic>
      <p:pic>
        <p:nvPicPr>
          <p:cNvPr id="14" name="Picture 13">
            <a:extLst>
              <a:ext uri="{FF2B5EF4-FFF2-40B4-BE49-F238E27FC236}">
                <a16:creationId xmlns:a16="http://schemas.microsoft.com/office/drawing/2014/main" id="{1A747D9E-F2A0-4A4D-B05A-9E5DBCD4669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383892" y="1398650"/>
            <a:ext cx="2194560" cy="4595172"/>
          </a:xfrm>
          <a:prstGeom prst="rect">
            <a:avLst/>
          </a:prstGeom>
        </p:spPr>
      </p:pic>
    </p:spTree>
    <p:extLst>
      <p:ext uri="{BB962C8B-B14F-4D97-AF65-F5344CB8AC3E}">
        <p14:creationId xmlns:p14="http://schemas.microsoft.com/office/powerpoint/2010/main" val="32100261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3EC583-1B6B-44C3-B874-A0E7EB83EA14}"/>
              </a:ext>
            </a:extLst>
          </p:cNvPr>
          <p:cNvSpPr txBox="1"/>
          <p:nvPr/>
        </p:nvSpPr>
        <p:spPr>
          <a:xfrm>
            <a:off x="219075" y="84452"/>
            <a:ext cx="11972925" cy="677108"/>
          </a:xfrm>
          <a:prstGeom prst="rect">
            <a:avLst/>
          </a:prstGeom>
          <a:noFill/>
        </p:spPr>
        <p:txBody>
          <a:bodyPr wrap="square" rtlCol="0">
            <a:spAutoFit/>
          </a:bodyPr>
          <a:lstStyle/>
          <a:p>
            <a:pPr algn="ctr"/>
            <a:r>
              <a:rPr lang="en-US" sz="3800" b="1" dirty="0">
                <a:solidFill>
                  <a:srgbClr val="FF0000"/>
                </a:solidFill>
              </a:rPr>
              <a:t>Test </a:t>
            </a:r>
            <a:r>
              <a:rPr lang="en-US" sz="3800" b="1" dirty="0" err="1">
                <a:solidFill>
                  <a:srgbClr val="FF0000"/>
                </a:solidFill>
              </a:rPr>
              <a:t>dữ</a:t>
            </a:r>
            <a:r>
              <a:rPr lang="en-US" sz="3800" b="1" dirty="0">
                <a:solidFill>
                  <a:srgbClr val="FF0000"/>
                </a:solidFill>
              </a:rPr>
              <a:t> </a:t>
            </a:r>
            <a:r>
              <a:rPr lang="en-US" sz="3800" b="1" dirty="0" err="1">
                <a:solidFill>
                  <a:srgbClr val="FF0000"/>
                </a:solidFill>
              </a:rPr>
              <a:t>liệu</a:t>
            </a:r>
            <a:r>
              <a:rPr lang="en-US" sz="3800" b="1" dirty="0">
                <a:solidFill>
                  <a:srgbClr val="FF0000"/>
                </a:solidFill>
              </a:rPr>
              <a:t> match </a:t>
            </a:r>
            <a:r>
              <a:rPr lang="en-US" sz="3800" b="1" dirty="0" err="1">
                <a:solidFill>
                  <a:srgbClr val="FF0000"/>
                </a:solidFill>
              </a:rPr>
              <a:t>với</a:t>
            </a:r>
            <a:r>
              <a:rPr lang="en-US" sz="3800" b="1" dirty="0">
                <a:solidFill>
                  <a:srgbClr val="FF0000"/>
                </a:solidFill>
              </a:rPr>
              <a:t> </a:t>
            </a:r>
            <a:r>
              <a:rPr lang="en-US" sz="3800" b="1" dirty="0" err="1">
                <a:solidFill>
                  <a:srgbClr val="FF0000"/>
                </a:solidFill>
              </a:rPr>
              <a:t>công</a:t>
            </a:r>
            <a:r>
              <a:rPr lang="en-US" sz="3800" b="1" dirty="0">
                <a:solidFill>
                  <a:srgbClr val="FF0000"/>
                </a:solidFill>
              </a:rPr>
              <a:t> </a:t>
            </a:r>
            <a:r>
              <a:rPr lang="en-US" sz="3800" b="1" dirty="0" err="1">
                <a:solidFill>
                  <a:srgbClr val="FF0000"/>
                </a:solidFill>
              </a:rPr>
              <a:t>việc</a:t>
            </a:r>
            <a:r>
              <a:rPr lang="en-US" sz="3800" b="1" dirty="0">
                <a:solidFill>
                  <a:srgbClr val="FF0000"/>
                </a:solidFill>
              </a:rPr>
              <a:t> (</a:t>
            </a:r>
            <a:r>
              <a:rPr lang="en-US" sz="3800" b="1" dirty="0" err="1">
                <a:solidFill>
                  <a:srgbClr val="FF0000"/>
                </a:solidFill>
              </a:rPr>
              <a:t>chỉ</a:t>
            </a:r>
            <a:r>
              <a:rPr lang="en-US" sz="3800" b="1" dirty="0">
                <a:solidFill>
                  <a:srgbClr val="FF0000"/>
                </a:solidFill>
              </a:rPr>
              <a:t> 1 </a:t>
            </a:r>
            <a:r>
              <a:rPr lang="en-US" sz="3800" b="1" dirty="0" err="1">
                <a:solidFill>
                  <a:srgbClr val="FF0000"/>
                </a:solidFill>
              </a:rPr>
              <a:t>thông</a:t>
            </a:r>
            <a:r>
              <a:rPr lang="en-US" sz="3800" b="1" dirty="0">
                <a:solidFill>
                  <a:srgbClr val="FF0000"/>
                </a:solidFill>
              </a:rPr>
              <a:t> tin </a:t>
            </a:r>
            <a:r>
              <a:rPr lang="en-US" sz="3800" b="1" dirty="0" err="1">
                <a:solidFill>
                  <a:srgbClr val="FF0000"/>
                </a:solidFill>
              </a:rPr>
              <a:t>liên</a:t>
            </a:r>
            <a:r>
              <a:rPr lang="en-US" sz="3800" b="1" dirty="0">
                <a:solidFill>
                  <a:srgbClr val="FF0000"/>
                </a:solidFill>
              </a:rPr>
              <a:t> </a:t>
            </a:r>
            <a:r>
              <a:rPr lang="en-US" sz="3800" b="1" dirty="0" err="1">
                <a:solidFill>
                  <a:srgbClr val="FF0000"/>
                </a:solidFill>
              </a:rPr>
              <a:t>quan</a:t>
            </a:r>
            <a:r>
              <a:rPr lang="en-US" sz="3800" b="1" dirty="0">
                <a:solidFill>
                  <a:srgbClr val="FF0000"/>
                </a:solidFill>
              </a:rPr>
              <a:t>)</a:t>
            </a:r>
          </a:p>
        </p:txBody>
      </p:sp>
      <p:sp>
        <p:nvSpPr>
          <p:cNvPr id="7" name="TextBox 6"/>
          <p:cNvSpPr txBox="1"/>
          <p:nvPr/>
        </p:nvSpPr>
        <p:spPr>
          <a:xfrm>
            <a:off x="6003662" y="653358"/>
            <a:ext cx="184730" cy="400110"/>
          </a:xfrm>
          <a:prstGeom prst="rect">
            <a:avLst/>
          </a:prstGeom>
          <a:noFill/>
        </p:spPr>
        <p:txBody>
          <a:bodyPr wrap="none" rtlCol="0">
            <a:spAutoFit/>
          </a:bodyPr>
          <a:lstStyle/>
          <a:p>
            <a:pPr algn="ctr"/>
            <a:endParaRPr lang="en-US" sz="20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529C1CC-E9D4-4787-85CA-FD4CBDFA8C17}"/>
              </a:ext>
            </a:extLst>
          </p:cNvPr>
          <p:cNvSpPr txBox="1"/>
          <p:nvPr/>
        </p:nvSpPr>
        <p:spPr>
          <a:xfrm>
            <a:off x="3454938" y="6286690"/>
            <a:ext cx="4708340"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t</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đồng</a:t>
            </a:r>
            <a:r>
              <a:rPr lang="en-US" dirty="0">
                <a:latin typeface="Arial" panose="020B0604020202020204" pitchFamily="34" charset="0"/>
                <a:cs typeface="Arial" panose="020B0604020202020204" pitchFamily="34" charset="0"/>
              </a:rPr>
              <a:t> cosine similarity 68/100</a:t>
            </a:r>
          </a:p>
        </p:txBody>
      </p:sp>
      <p:pic>
        <p:nvPicPr>
          <p:cNvPr id="3" name="Picture 2">
            <a:extLst>
              <a:ext uri="{FF2B5EF4-FFF2-40B4-BE49-F238E27FC236}">
                <a16:creationId xmlns:a16="http://schemas.microsoft.com/office/drawing/2014/main" id="{96DD3517-8F18-486A-84BE-2431991C6F1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885501" y="863084"/>
            <a:ext cx="2377440" cy="4978103"/>
          </a:xfrm>
          <a:prstGeom prst="rect">
            <a:avLst/>
          </a:prstGeom>
        </p:spPr>
      </p:pic>
      <p:pic>
        <p:nvPicPr>
          <p:cNvPr id="8" name="Picture 7">
            <a:extLst>
              <a:ext uri="{FF2B5EF4-FFF2-40B4-BE49-F238E27FC236}">
                <a16:creationId xmlns:a16="http://schemas.microsoft.com/office/drawing/2014/main" id="{FBA54693-7CCF-47FE-8547-3B13C373C8D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999672" y="860684"/>
            <a:ext cx="2377440" cy="4978103"/>
          </a:xfrm>
          <a:prstGeom prst="rect">
            <a:avLst/>
          </a:prstGeom>
        </p:spPr>
      </p:pic>
      <p:pic>
        <p:nvPicPr>
          <p:cNvPr id="11" name="Picture 10">
            <a:extLst>
              <a:ext uri="{FF2B5EF4-FFF2-40B4-BE49-F238E27FC236}">
                <a16:creationId xmlns:a16="http://schemas.microsoft.com/office/drawing/2014/main" id="{BA734644-1D14-4E9C-91BF-C0E2EC25EA9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68955" y="860684"/>
            <a:ext cx="2377440" cy="4978103"/>
          </a:xfrm>
          <a:prstGeom prst="rect">
            <a:avLst/>
          </a:prstGeom>
        </p:spPr>
      </p:pic>
    </p:spTree>
    <p:extLst>
      <p:ext uri="{BB962C8B-B14F-4D97-AF65-F5344CB8AC3E}">
        <p14:creationId xmlns:p14="http://schemas.microsoft.com/office/powerpoint/2010/main" val="4204826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7712</TotalTime>
  <Words>1870</Words>
  <Application>Microsoft Office PowerPoint</Application>
  <PresentationFormat>Widescreen</PresentationFormat>
  <Paragraphs>235</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Symbol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Nahid Ahmed</dc:creator>
  <cp:lastModifiedBy>Dang Thanh Hang</cp:lastModifiedBy>
  <cp:revision>287</cp:revision>
  <dcterms:created xsi:type="dcterms:W3CDTF">2017-11-09T17:58:25Z</dcterms:created>
  <dcterms:modified xsi:type="dcterms:W3CDTF">2025-12-28T21:36:20Z</dcterms:modified>
</cp:coreProperties>
</file>